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youtu.be/WknkOvDKUaU" TargetMode="External"/><Relationship Id="rId1" Type="http://schemas.openxmlformats.org/officeDocument/2006/relationships/image" Target="../media/image-2-1.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822960" y="2331720"/>
            <a:ext cx="9601200" cy="365760"/>
          </a:xfrm>
          <a:prstGeom prst="rect">
            <a:avLst/>
          </a:prstGeom>
          <a:noFill/>
          <a:ln/>
        </p:spPr>
        <p:txBody>
          <a:bodyPr wrap="square" lIns="0" tIns="0" rIns="0" bIns="0" rtlCol="0" anchor="ctr"/>
          <a:lstStyle/>
          <a:p>
            <a:pPr indent="0" marL="0">
              <a:buNone/>
            </a:pPr>
            <a:r>
              <a:rPr lang="en-US" sz="1200" b="1" spc="150" kern="0" dirty="0">
                <a:solidFill>
                  <a:srgbClr val="16A34A"/>
                </a:solidFill>
                <a:latin typeface="Calibri" pitchFamily="34" charset="0"/>
                <a:ea typeface="Calibri" pitchFamily="34" charset="-122"/>
                <a:cs typeface="Calibri" pitchFamily="34" charset="-120"/>
              </a:rPr>
              <a:t>RENESAS RA8P1  ·  µT-KERNEL 3.0</a:t>
            </a:r>
            <a:endParaRPr lang="en-US" sz="1200" dirty="0"/>
          </a:p>
        </p:txBody>
      </p:sp>
      <p:sp>
        <p:nvSpPr>
          <p:cNvPr id="3" name="Text 1"/>
          <p:cNvSpPr txBox="1"/>
          <p:nvPr/>
        </p:nvSpPr>
        <p:spPr>
          <a:xfrm>
            <a:off x="822960" y="2697480"/>
            <a:ext cx="10058400" cy="13716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Conversational Hand Gestures</a:t>
            </a:r>
            <a:endParaRPr lang="en-US" sz="4400" dirty="0"/>
          </a:p>
        </p:txBody>
      </p:sp>
      <p:sp>
        <p:nvSpPr>
          <p:cNvPr id="4" name="Text 2"/>
          <p:cNvSpPr txBox="1"/>
          <p:nvPr/>
        </p:nvSpPr>
        <p:spPr>
          <a:xfrm>
            <a:off x="822960" y="3794760"/>
            <a:ext cx="9144000" cy="54864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An inclusive, on-device AI interface for children — built for the TRON Programming Contest 2026</a:t>
            </a:r>
            <a:endParaRPr lang="en-US" sz="1600" dirty="0"/>
          </a:p>
        </p:txBody>
      </p:sp>
      <p:sp>
        <p:nvSpPr>
          <p:cNvPr id="5" name="Shape 3"/>
          <p:cNvSpPr/>
          <p:nvPr/>
        </p:nvSpPr>
        <p:spPr>
          <a:xfrm>
            <a:off x="10186416" y="630936"/>
            <a:ext cx="749808" cy="749808"/>
          </a:xfrm>
          <a:prstGeom prst="ellipse">
            <a:avLst/>
          </a:prstGeom>
          <a:solidFill>
            <a:srgbClr val="16321F"/>
          </a:solidFill>
          <a:ln/>
        </p:spPr>
      </p:sp>
      <p:sp>
        <p:nvSpPr>
          <p:cNvPr id="6" name="Text 4"/>
          <p:cNvSpPr txBox="1"/>
          <p:nvPr/>
        </p:nvSpPr>
        <p:spPr>
          <a:xfrm>
            <a:off x="10186416" y="630936"/>
            <a:ext cx="749808" cy="749808"/>
          </a:xfrm>
          <a:prstGeom prst="rect">
            <a:avLst/>
          </a:prstGeom>
          <a:noFill/>
          <a:ln/>
        </p:spPr>
        <p:txBody>
          <a:bodyPr wrap="square" lIns="0" tIns="0" rIns="0" bIns="0" rtlCol="0" anchor="ctr"/>
          <a:lstStyle/>
          <a:p>
            <a:pPr algn="ctr" indent="0" marL="0">
              <a:buNone/>
            </a:pPr>
            <a:r>
              <a:rPr lang="en-US" sz="2600" dirty="0">
                <a:solidFill>
                  <a:srgbClr val="16A34A"/>
                </a:solidFill>
                <a:latin typeface="Arial" pitchFamily="34" charset="0"/>
                <a:ea typeface="Arial" pitchFamily="34" charset="-122"/>
                <a:cs typeface="Arial" pitchFamily="34" charset="-120"/>
              </a:rPr>
              <a:t>✋</a:t>
            </a:r>
            <a:endParaRPr lang="en-US" sz="2600" dirty="0"/>
          </a:p>
        </p:txBody>
      </p:sp>
      <p:sp>
        <p:nvSpPr>
          <p:cNvPr id="7" name="Shape 5"/>
          <p:cNvSpPr/>
          <p:nvPr/>
        </p:nvSpPr>
        <p:spPr>
          <a:xfrm>
            <a:off x="11229991" y="1389138"/>
            <a:ext cx="749808" cy="749808"/>
          </a:xfrm>
          <a:prstGeom prst="ellipse">
            <a:avLst/>
          </a:prstGeom>
          <a:solidFill>
            <a:srgbClr val="16321F"/>
          </a:solidFill>
          <a:ln/>
        </p:spPr>
      </p:sp>
      <p:sp>
        <p:nvSpPr>
          <p:cNvPr id="8" name="Text 6"/>
          <p:cNvSpPr txBox="1"/>
          <p:nvPr/>
        </p:nvSpPr>
        <p:spPr>
          <a:xfrm>
            <a:off x="11229991" y="1389138"/>
            <a:ext cx="749808" cy="749808"/>
          </a:xfrm>
          <a:prstGeom prst="rect">
            <a:avLst/>
          </a:prstGeom>
          <a:noFill/>
          <a:ln/>
        </p:spPr>
        <p:txBody>
          <a:bodyPr wrap="square" lIns="0" tIns="0" rIns="0" bIns="0" rtlCol="0" anchor="ctr"/>
          <a:lstStyle/>
          <a:p>
            <a:pPr algn="ctr" indent="0" marL="0">
              <a:buNone/>
            </a:pPr>
            <a:r>
              <a:rPr lang="en-US" sz="2600" dirty="0">
                <a:solidFill>
                  <a:srgbClr val="16A34A"/>
                </a:solidFill>
                <a:latin typeface="Arial" pitchFamily="34" charset="0"/>
                <a:ea typeface="Arial" pitchFamily="34" charset="-122"/>
                <a:cs typeface="Arial" pitchFamily="34" charset="-120"/>
              </a:rPr>
              <a:t>✊</a:t>
            </a:r>
            <a:endParaRPr lang="en-US" sz="2600" dirty="0"/>
          </a:p>
        </p:txBody>
      </p:sp>
      <p:sp>
        <p:nvSpPr>
          <p:cNvPr id="9" name="Shape 7"/>
          <p:cNvSpPr/>
          <p:nvPr/>
        </p:nvSpPr>
        <p:spPr>
          <a:xfrm>
            <a:off x="10831381" y="2615934"/>
            <a:ext cx="749808" cy="749808"/>
          </a:xfrm>
          <a:prstGeom prst="ellipse">
            <a:avLst/>
          </a:prstGeom>
          <a:solidFill>
            <a:srgbClr val="16321F"/>
          </a:solidFill>
          <a:ln/>
        </p:spPr>
      </p:sp>
      <p:sp>
        <p:nvSpPr>
          <p:cNvPr id="10" name="Text 8"/>
          <p:cNvSpPr txBox="1"/>
          <p:nvPr/>
        </p:nvSpPr>
        <p:spPr>
          <a:xfrm>
            <a:off x="10831381" y="2615934"/>
            <a:ext cx="749808" cy="749808"/>
          </a:xfrm>
          <a:prstGeom prst="rect">
            <a:avLst/>
          </a:prstGeom>
          <a:noFill/>
          <a:ln/>
        </p:spPr>
        <p:txBody>
          <a:bodyPr wrap="square" lIns="0" tIns="0" rIns="0" bIns="0" rtlCol="0" anchor="ctr"/>
          <a:lstStyle/>
          <a:p>
            <a:pPr algn="ctr" indent="0" marL="0">
              <a:buNone/>
            </a:pPr>
            <a:r>
              <a:rPr lang="en-US" sz="2600" dirty="0">
                <a:solidFill>
                  <a:srgbClr val="16A34A"/>
                </a:solidFill>
                <a:latin typeface="Arial" pitchFamily="34" charset="0"/>
                <a:ea typeface="Arial" pitchFamily="34" charset="-122"/>
                <a:cs typeface="Arial" pitchFamily="34" charset="-120"/>
              </a:rPr>
              <a:t>👎</a:t>
            </a:r>
            <a:endParaRPr lang="en-US" sz="2600" dirty="0"/>
          </a:p>
        </p:txBody>
      </p:sp>
      <p:sp>
        <p:nvSpPr>
          <p:cNvPr id="11" name="Shape 9"/>
          <p:cNvSpPr/>
          <p:nvPr/>
        </p:nvSpPr>
        <p:spPr>
          <a:xfrm>
            <a:off x="9541451" y="2615934"/>
            <a:ext cx="749808" cy="749808"/>
          </a:xfrm>
          <a:prstGeom prst="ellipse">
            <a:avLst/>
          </a:prstGeom>
          <a:solidFill>
            <a:srgbClr val="16321F"/>
          </a:solidFill>
          <a:ln/>
        </p:spPr>
      </p:sp>
      <p:sp>
        <p:nvSpPr>
          <p:cNvPr id="12" name="Text 10"/>
          <p:cNvSpPr txBox="1"/>
          <p:nvPr/>
        </p:nvSpPr>
        <p:spPr>
          <a:xfrm>
            <a:off x="9541451" y="2615934"/>
            <a:ext cx="749808" cy="749808"/>
          </a:xfrm>
          <a:prstGeom prst="rect">
            <a:avLst/>
          </a:prstGeom>
          <a:noFill/>
          <a:ln/>
        </p:spPr>
        <p:txBody>
          <a:bodyPr wrap="square" lIns="0" tIns="0" rIns="0" bIns="0" rtlCol="0" anchor="ctr"/>
          <a:lstStyle/>
          <a:p>
            <a:pPr algn="ctr" indent="0" marL="0">
              <a:buNone/>
            </a:pPr>
            <a:r>
              <a:rPr lang="en-US" sz="2600" dirty="0">
                <a:solidFill>
                  <a:srgbClr val="16A34A"/>
                </a:solidFill>
                <a:latin typeface="Arial" pitchFamily="34" charset="0"/>
                <a:ea typeface="Arial" pitchFamily="34" charset="-122"/>
                <a:cs typeface="Arial" pitchFamily="34" charset="-120"/>
              </a:rPr>
              <a:t>👍</a:t>
            </a:r>
            <a:endParaRPr lang="en-US" sz="2600" dirty="0"/>
          </a:p>
        </p:txBody>
      </p:sp>
      <p:sp>
        <p:nvSpPr>
          <p:cNvPr id="13" name="Shape 11"/>
          <p:cNvSpPr/>
          <p:nvPr/>
        </p:nvSpPr>
        <p:spPr>
          <a:xfrm>
            <a:off x="9142841" y="1389138"/>
            <a:ext cx="749808" cy="749808"/>
          </a:xfrm>
          <a:prstGeom prst="ellipse">
            <a:avLst/>
          </a:prstGeom>
          <a:solidFill>
            <a:srgbClr val="16321F"/>
          </a:solidFill>
          <a:ln/>
        </p:spPr>
      </p:sp>
      <p:sp>
        <p:nvSpPr>
          <p:cNvPr id="14" name="Text 12"/>
          <p:cNvSpPr txBox="1"/>
          <p:nvPr/>
        </p:nvSpPr>
        <p:spPr>
          <a:xfrm>
            <a:off x="9142841" y="1389138"/>
            <a:ext cx="749808" cy="749808"/>
          </a:xfrm>
          <a:prstGeom prst="rect">
            <a:avLst/>
          </a:prstGeom>
          <a:noFill/>
          <a:ln/>
        </p:spPr>
        <p:txBody>
          <a:bodyPr wrap="square" lIns="0" tIns="0" rIns="0" bIns="0" rtlCol="0" anchor="ctr"/>
          <a:lstStyle/>
          <a:p>
            <a:pPr algn="ctr" indent="0" marL="0">
              <a:buNone/>
            </a:pPr>
            <a:r>
              <a:rPr lang="en-US" sz="2600" dirty="0">
                <a:solidFill>
                  <a:srgbClr val="16A34A"/>
                </a:solidFill>
                <a:latin typeface="Arial" pitchFamily="34" charset="0"/>
                <a:ea typeface="Arial" pitchFamily="34" charset="-122"/>
                <a:cs typeface="Arial" pitchFamily="34" charset="-120"/>
              </a:rPr>
              <a:t>✌️</a:t>
            </a:r>
            <a:endParaRPr lang="en-US" sz="2600" dirty="0"/>
          </a:p>
        </p:txBody>
      </p:sp>
      <p:sp>
        <p:nvSpPr>
          <p:cNvPr id="15" name="Text 13"/>
          <p:cNvSpPr txBox="1"/>
          <p:nvPr/>
        </p:nvSpPr>
        <p:spPr>
          <a:xfrm>
            <a:off x="822960" y="5532120"/>
            <a:ext cx="365760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2026-09-22</a:t>
            </a:r>
            <a:endParaRPr lang="en-US" sz="1200" dirty="0"/>
          </a:p>
        </p:txBody>
      </p:sp>
      <p:sp>
        <p:nvSpPr>
          <p:cNvPr id="16" name="Text 14"/>
          <p:cNvSpPr txBox="1"/>
          <p:nvPr/>
        </p:nvSpPr>
        <p:spPr>
          <a:xfrm>
            <a:off x="822960" y="5806440"/>
            <a:ext cx="7315200" cy="320040"/>
          </a:xfrm>
          <a:prstGeom prst="rect">
            <a:avLst/>
          </a:prstGeom>
          <a:noFill/>
          <a:ln/>
        </p:spPr>
        <p:txBody>
          <a:bodyPr wrap="square" lIns="0" tIns="0" rIns="0" bIns="0" rtlCol="0" anchor="ctr"/>
          <a:lstStyle/>
          <a:p>
            <a:pPr indent="0" marL="0">
              <a:buNone/>
            </a:pPr>
            <a:r>
              <a:rPr lang="en-US" sz="1200" b="1" dirty="0">
                <a:solidFill>
                  <a:srgbClr val="94A3B8"/>
                </a:solidFill>
                <a:latin typeface="Calibri" pitchFamily="34" charset="0"/>
                <a:ea typeface="Calibri" pitchFamily="34" charset="-122"/>
                <a:cs typeface="Calibri" pitchFamily="34" charset="-120"/>
              </a:rPr>
              <a:t>Tu Thai*</a:t>
            </a:r>
            <a:pPr indent="0" marL="0">
              <a:buNone/>
            </a:pPr>
            <a:r>
              <a:rPr lang="en-US" sz="1200" dirty="0">
                <a:solidFill>
                  <a:srgbClr val="94A3B8"/>
                </a:solidFill>
                <a:latin typeface="Calibri" pitchFamily="34" charset="0"/>
                <a:ea typeface="Calibri" pitchFamily="34" charset="-122"/>
                <a:cs typeface="Calibri" pitchFamily="34" charset="-120"/>
              </a:rPr>
              <a:t>  ·  Duy Phan  ·  Khoa Do</a:t>
            </a:r>
            <a:endParaRPr lang="en-US" sz="1200" dirty="0"/>
          </a:p>
        </p:txBody>
      </p:sp>
      <p:sp>
        <p:nvSpPr>
          <p:cNvPr id="17" name="Text 15"/>
          <p:cNvSpPr txBox="1"/>
          <p:nvPr/>
        </p:nvSpPr>
        <p:spPr>
          <a:xfrm>
            <a:off x="822960" y="6089904"/>
            <a:ext cx="54864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*Corresponding author · Gnomons</a:t>
            </a:r>
            <a:endParaRPr lang="en-US" sz="950" dirty="0"/>
          </a:p>
        </p:txBody>
      </p:sp>
      <p:sp>
        <p:nvSpPr>
          <p:cNvPr id="18" name="Text 16"/>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 2026 Gnomons</a:t>
            </a:r>
            <a:endParaRPr lang="en-US" sz="900" dirty="0"/>
          </a:p>
        </p:txBody>
      </p:sp>
      <p:sp>
        <p:nvSpPr>
          <p:cNvPr id="19" name="Text 17"/>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150" kern="0" dirty="0">
                <a:solidFill>
                  <a:srgbClr val="15803D"/>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713232"/>
            <a:ext cx="10515600" cy="73152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A gesture-only conversation, entirely on-device</a:t>
            </a:r>
            <a:endParaRPr lang="en-US" sz="3000" dirty="0"/>
          </a:p>
        </p:txBody>
      </p:sp>
      <p:sp>
        <p:nvSpPr>
          <p:cNvPr id="4" name="Text 2"/>
          <p:cNvSpPr txBox="1"/>
          <p:nvPr/>
        </p:nvSpPr>
        <p:spPr>
          <a:xfrm>
            <a:off x="548640" y="1600200"/>
            <a:ext cx="6035040" cy="2011680"/>
          </a:xfrm>
          <a:prstGeom prst="rect">
            <a:avLst/>
          </a:prstGeom>
          <a:noFill/>
          <a:ln/>
        </p:spPr>
        <p:txBody>
          <a:bodyPr wrap="square" lIns="0" tIns="0" rIns="0" bIns="0" rtlCol="0" anchor="ctr"/>
          <a:lstStyle/>
          <a:p>
            <a:pPr indent="0" marL="0">
              <a:lnSpc>
                <a:spcPct val="130000"/>
              </a:lnSpc>
              <a:buNone/>
            </a:pPr>
            <a:r>
              <a:rPr lang="en-US" sz="1500" dirty="0">
                <a:solidFill>
                  <a:srgbClr val="475569"/>
                </a:solidFill>
                <a:latin typeface="Calibri" pitchFamily="34" charset="0"/>
                <a:ea typeface="Calibri" pitchFamily="34" charset="-122"/>
                <a:cs typeface="Calibri" pitchFamily="34" charset="-120"/>
              </a:rPr>
              <a:t>A child raises an open palm. A cartoon face on screen greets them back. From there the two hold a short conversation, play a game, and watch a story generated live on screen — using only hand shapes. No network stack, no camera data ever leaves the device, so the exchange stays private to the child using it.</a:t>
            </a:r>
            <a:endParaRPr lang="en-US" sz="1500" dirty="0"/>
          </a:p>
        </p:txBody>
      </p:sp>
      <p:sp>
        <p:nvSpPr>
          <p:cNvPr id="5" name="Text 3"/>
          <p:cNvSpPr txBox="1"/>
          <p:nvPr/>
        </p:nvSpPr>
        <p:spPr>
          <a:xfrm>
            <a:off x="548640" y="3749040"/>
            <a:ext cx="6035040" cy="1280160"/>
          </a:xfrm>
          <a:prstGeom prst="rect">
            <a:avLst/>
          </a:prstGeom>
          <a:noFill/>
          <a:ln/>
        </p:spPr>
        <p:txBody>
          <a:bodyPr wrap="square" lIns="0" tIns="0" rIns="0" bIns="0" rtlCol="0" anchor="ctr"/>
          <a:lstStyle/>
          <a:p>
            <a:pPr indent="0" marL="0">
              <a:lnSpc>
                <a:spcPct val="130000"/>
              </a:lnSpc>
              <a:buNone/>
            </a:pPr>
            <a:r>
              <a:rPr lang="en-US" sz="1500" i="1" dirty="0">
                <a:solidFill>
                  <a:srgbClr val="166534"/>
                </a:solidFill>
                <a:latin typeface="Calibri" pitchFamily="34" charset="0"/>
                <a:ea typeface="Calibri" pitchFamily="34" charset="-122"/>
                <a:cs typeface="Calibri" pitchFamily="34" charset="-120"/>
              </a:rPr>
              <a:t>The exchange mimics conversational reciprocity — turn-taking, not a single command triggering a single response — with the animated face appearing to understand and talk back through its reactions.</a:t>
            </a:r>
            <a:endParaRPr lang="en-US" sz="1500" dirty="0"/>
          </a:p>
        </p:txBody>
      </p:sp>
      <p:sp>
        <p:nvSpPr>
          <p:cNvPr id="6" name="Shape 4"/>
          <p:cNvSpPr/>
          <p:nvPr/>
        </p:nvSpPr>
        <p:spPr>
          <a:xfrm>
            <a:off x="6638544" y="1746504"/>
            <a:ext cx="5056632" cy="3584525"/>
          </a:xfrm>
          <a:prstGeom prst="roundRect">
            <a:avLst>
              <a:gd name="adj" fmla="val 2551"/>
            </a:avLst>
          </a:prstGeom>
          <a:solidFill>
            <a:srgbClr val="FFFFFF"/>
          </a:solidFill>
          <a:ln w="12700">
            <a:solidFill>
              <a:srgbClr val="E2E8F0"/>
            </a:solidFill>
            <a:prstDash val="solid"/>
          </a:ln>
          <a:effectLst>
            <a:outerShdw sx="100000" sy="100000" kx="0" ky="0" algn="bl" rotWithShape="0" blurRad="127000" dist="50800" dir="5400000">
              <a:srgbClr val="0F172A">
                <a:alpha val="14000"/>
              </a:srgbClr>
            </a:outerShdw>
          </a:effectLst>
        </p:spPr>
      </p:sp>
      <p:pic>
        <p:nvPicPr>
          <p:cNvPr id="7" name="Image 0" descr="/tmp/claude-0/-home-claude/6b0506d7-3f2f-5f3d-9b97-b2bf1aa5214e/scratchpad/deck/overview-photo.jpg">    </p:cNvPr>
          <p:cNvPicPr>
            <a:picLocks noChangeAspect="1"/>
          </p:cNvPicPr>
          <p:nvPr/>
        </p:nvPicPr>
        <p:blipFill>
          <a:blip r:embed="rId1"/>
          <a:stretch>
            <a:fillRect/>
          </a:stretch>
        </p:blipFill>
        <p:spPr>
          <a:xfrm>
            <a:off x="6720840" y="1828800"/>
            <a:ext cx="4892040" cy="3419933"/>
          </a:xfrm>
          <a:prstGeom prst="rect">
            <a:avLst/>
          </a:prstGeom>
        </p:spPr>
      </p:pic>
      <p:sp>
        <p:nvSpPr>
          <p:cNvPr id="8" name="Text 5"/>
          <p:cNvSpPr txBox="1"/>
          <p:nvPr/>
        </p:nvSpPr>
        <p:spPr>
          <a:xfrm>
            <a:off x="6638544" y="5431613"/>
            <a:ext cx="5056632" cy="36576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 gesture in · a reaction back · live on the EK-RA8P1 board</a:t>
            </a:r>
            <a:endParaRPr lang="en-US" sz="1000" dirty="0"/>
          </a:p>
        </p:txBody>
      </p:sp>
      <p:sp>
        <p:nvSpPr>
          <p:cNvPr id="9" name="Text 6">
            <a:hlinkClick r:id="rId2" tooltip=""/>
          </p:cNvPr>
          <p:cNvSpPr txBox="1"/>
          <p:nvPr/>
        </p:nvSpPr>
        <p:spPr>
          <a:xfrm>
            <a:off x="6638544" y="5751653"/>
            <a:ext cx="5056632" cy="320040"/>
          </a:xfrm>
          <a:prstGeom prst="rect">
            <a:avLst/>
          </a:prstGeom>
          <a:noFill/>
          <a:ln/>
        </p:spPr>
        <p:txBody>
          <a:bodyPr wrap="square" lIns="0" tIns="0" rIns="0" bIns="0" rtlCol="0" anchor="ctr"/>
          <a:lstStyle/>
          <a:p>
            <a:pPr algn="ctr" indent="0" marL="0">
              <a:buNone/>
            </a:pPr>
            <a:r>
              <a:rPr lang="en-US" sz="1150" b="1" u="sng" dirty="0">
                <a:solidFill>
                  <a:srgbClr val="1580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Watch the demo on YouTube</a:t>
            </a:r>
            <a:endParaRPr lang="en-US" sz="1150" dirty="0"/>
          </a:p>
        </p:txBody>
      </p:sp>
      <p:sp>
        <p:nvSpPr>
          <p:cNvPr id="10" name="Text 7"/>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 2026 Gnomons</a:t>
            </a:r>
            <a:endParaRPr lang="en-US" sz="900" dirty="0"/>
          </a:p>
        </p:txBody>
      </p:sp>
      <p:sp>
        <p:nvSpPr>
          <p:cNvPr id="11" name="Text 8"/>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150" kern="0" dirty="0">
                <a:solidFill>
                  <a:srgbClr val="0369A1"/>
                </a:solidFill>
                <a:latin typeface="Calibri" pitchFamily="34" charset="0"/>
                <a:ea typeface="Calibri" pitchFamily="34" charset="-122"/>
                <a:cs typeface="Calibri" pitchFamily="34" charset="-120"/>
              </a:rPr>
              <a:t>THE CHALLENGE</a:t>
            </a:r>
            <a:endParaRPr lang="en-US" sz="1200" dirty="0"/>
          </a:p>
        </p:txBody>
      </p:sp>
      <p:sp>
        <p:nvSpPr>
          <p:cNvPr id="3" name="Text 1"/>
          <p:cNvSpPr txBox="1"/>
          <p:nvPr/>
        </p:nvSpPr>
        <p:spPr>
          <a:xfrm>
            <a:off x="548640" y="713232"/>
            <a:ext cx="10515600" cy="73152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Competing for CPU time and limited memory</a:t>
            </a:r>
            <a:endParaRPr lang="en-US" sz="3000" dirty="0"/>
          </a:p>
        </p:txBody>
      </p:sp>
      <p:sp>
        <p:nvSpPr>
          <p:cNvPr id="4" name="Text 2"/>
          <p:cNvSpPr txBox="1"/>
          <p:nvPr/>
        </p:nvSpPr>
        <p:spPr>
          <a:xfrm>
            <a:off x="548640" y="1691640"/>
            <a:ext cx="6766560" cy="640080"/>
          </a:xfrm>
          <a:prstGeom prst="rect">
            <a:avLst/>
          </a:prstGeom>
          <a:noFill/>
          <a:ln/>
        </p:spPr>
        <p:txBody>
          <a:bodyPr wrap="square" lIns="0" tIns="0" rIns="0" bIns="0" rtlCol="0" anchor="ctr"/>
          <a:lstStyle/>
          <a:p>
            <a:pPr indent="0" marL="0">
              <a:lnSpc>
                <a:spcPct val="130000"/>
              </a:lnSpc>
              <a:buNone/>
            </a:pPr>
            <a:r>
              <a:rPr lang="en-US" sz="1600" dirty="0">
                <a:solidFill>
                  <a:srgbClr val="475569"/>
                </a:solidFill>
                <a:latin typeface="Calibri" pitchFamily="34" charset="0"/>
                <a:ea typeface="Calibri" pitchFamily="34" charset="-122"/>
                <a:cs typeface="Calibri" pitchFamily="34" charset="-120"/>
              </a:rPr>
              <a:t>On a single microcontroller, combining two AI workloads is </a:t>
            </a:r>
            <a:pPr indent="0" marL="0">
              <a:lnSpc>
                <a:spcPct val="130000"/>
              </a:lnSpc>
              <a:buNone/>
            </a:pPr>
            <a:r>
              <a:rPr lang="en-US" sz="1600" b="1" dirty="0">
                <a:solidFill>
                  <a:srgbClr val="166534"/>
                </a:solidFill>
                <a:latin typeface="Calibri" pitchFamily="34" charset="0"/>
                <a:ea typeface="Calibri" pitchFamily="34" charset="-122"/>
                <a:cs typeface="Calibri" pitchFamily="34" charset="-120"/>
              </a:rPr>
              <a:t>not automatic.</a:t>
            </a:r>
            <a:endParaRPr lang="en-US" sz="1600" dirty="0"/>
          </a:p>
        </p:txBody>
      </p:sp>
      <p:sp>
        <p:nvSpPr>
          <p:cNvPr id="5" name="Text 3"/>
          <p:cNvSpPr txBox="1"/>
          <p:nvPr/>
        </p:nvSpPr>
        <p:spPr>
          <a:xfrm>
            <a:off x="548640" y="2331720"/>
            <a:ext cx="6766560" cy="2926080"/>
          </a:xfrm>
          <a:prstGeom prst="rect">
            <a:avLst/>
          </a:prstGeom>
          <a:noFill/>
          <a:ln/>
        </p:spPr>
        <p:txBody>
          <a:bodyPr wrap="square" lIns="0" tIns="0" rIns="0" bIns="0" rtlCol="0" anchor="ctr"/>
          <a:lstStyle/>
          <a:p>
            <a:pPr indent="0" marL="0">
              <a:lnSpc>
                <a:spcPct val="135000"/>
              </a:lnSpc>
              <a:buNone/>
            </a:pPr>
            <a:r>
              <a:rPr lang="en-US" sz="1500" dirty="0">
                <a:solidFill>
                  <a:srgbClr val="475569"/>
                </a:solidFill>
                <a:latin typeface="Calibri" pitchFamily="34" charset="0"/>
                <a:ea typeface="Calibri" pitchFamily="34" charset="-122"/>
                <a:cs typeface="Calibri" pitchFamily="34" charset="-120"/>
              </a:rPr>
              <a:t>AI workloads are large relative to an MCU's compute and memory budget. Running more than one at once — for example a vision pipeline that must keep up with a live camera while a language model computes in the background — puts them in direct competition for CPU time and for the limited fast memory an AI accelerator needs. Without guaranteed task order, a slower AI workload can stall a time-critical one.</a:t>
            </a:r>
            <a:endParaRPr lang="en-US" sz="1500" dirty="0"/>
          </a:p>
        </p:txBody>
      </p:sp>
      <p:sp>
        <p:nvSpPr>
          <p:cNvPr id="6" name="Shape 4"/>
          <p:cNvSpPr/>
          <p:nvPr/>
        </p:nvSpPr>
        <p:spPr>
          <a:xfrm>
            <a:off x="7772400" y="1691640"/>
            <a:ext cx="3840480" cy="1417320"/>
          </a:xfrm>
          <a:prstGeom prst="roundRect">
            <a:avLst>
              <a:gd name="adj" fmla="val 6452"/>
            </a:avLst>
          </a:prstGeom>
          <a:solidFill>
            <a:srgbClr val="F0FDF4"/>
          </a:solidFill>
          <a:ln w="12700">
            <a:solidFill>
              <a:srgbClr val="16A34A"/>
            </a:solidFill>
            <a:prstDash val="solid"/>
          </a:ln>
        </p:spPr>
      </p:sp>
      <p:sp>
        <p:nvSpPr>
          <p:cNvPr id="7" name="Text 5"/>
          <p:cNvSpPr txBox="1"/>
          <p:nvPr/>
        </p:nvSpPr>
        <p:spPr>
          <a:xfrm>
            <a:off x="8001000" y="1828800"/>
            <a:ext cx="3383280" cy="320040"/>
          </a:xfrm>
          <a:prstGeom prst="rect">
            <a:avLst/>
          </a:prstGeom>
          <a:noFill/>
          <a:ln/>
        </p:spPr>
        <p:txBody>
          <a:bodyPr wrap="square" lIns="0" tIns="0" rIns="0" bIns="0" rtlCol="0" anchor="ctr"/>
          <a:lstStyle/>
          <a:p>
            <a:pPr indent="0" marL="0">
              <a:buNone/>
            </a:pPr>
            <a:r>
              <a:rPr lang="en-US" sz="1100" b="1" dirty="0">
                <a:solidFill>
                  <a:srgbClr val="166534"/>
                </a:solidFill>
                <a:latin typeface="Calibri" pitchFamily="34" charset="0"/>
                <a:ea typeface="Calibri" pitchFamily="34" charset="-122"/>
                <a:cs typeface="Calibri" pitchFamily="34" charset="-120"/>
              </a:rPr>
              <a:t>VISION PIPELINE</a:t>
            </a:r>
            <a:endParaRPr lang="en-US" sz="1100" dirty="0"/>
          </a:p>
        </p:txBody>
      </p:sp>
      <p:sp>
        <p:nvSpPr>
          <p:cNvPr id="8" name="Text 6"/>
          <p:cNvSpPr txBox="1"/>
          <p:nvPr/>
        </p:nvSpPr>
        <p:spPr>
          <a:xfrm>
            <a:off x="8001000" y="2148840"/>
            <a:ext cx="3383280" cy="822960"/>
          </a:xfrm>
          <a:prstGeom prst="rect">
            <a:avLst/>
          </a:prstGeom>
          <a:noFill/>
          <a:ln/>
        </p:spPr>
        <p:txBody>
          <a:bodyPr wrap="square" lIns="0" tIns="0" rIns="0" bIns="0" rtlCol="0" anchor="ctr"/>
          <a:lstStyle/>
          <a:p>
            <a:pPr indent="0" marL="0">
              <a:lnSpc>
                <a:spcPct val="125000"/>
              </a:lnSpc>
              <a:buNone/>
            </a:pPr>
            <a:r>
              <a:rPr lang="en-US" sz="1250" dirty="0">
                <a:solidFill>
                  <a:srgbClr val="475569"/>
                </a:solidFill>
                <a:latin typeface="Calibri" pitchFamily="34" charset="0"/>
                <a:ea typeface="Calibri" pitchFamily="34" charset="-122"/>
                <a:cs typeface="Calibri" pitchFamily="34" charset="-120"/>
              </a:rPr>
              <a:t>Must keep up with a live camera feed — every frame, on time.</a:t>
            </a:r>
            <a:endParaRPr lang="en-US" sz="1250" dirty="0"/>
          </a:p>
        </p:txBody>
      </p:sp>
      <p:sp>
        <p:nvSpPr>
          <p:cNvPr id="9" name="Text 7"/>
          <p:cNvSpPr txBox="1"/>
          <p:nvPr/>
        </p:nvSpPr>
        <p:spPr>
          <a:xfrm>
            <a:off x="7772400" y="3200400"/>
            <a:ext cx="384048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vs.</a:t>
            </a:r>
            <a:endParaRPr lang="en-US" sz="1200" dirty="0"/>
          </a:p>
        </p:txBody>
      </p:sp>
      <p:sp>
        <p:nvSpPr>
          <p:cNvPr id="10" name="Shape 8"/>
          <p:cNvSpPr/>
          <p:nvPr/>
        </p:nvSpPr>
        <p:spPr>
          <a:xfrm>
            <a:off x="7772400" y="3566160"/>
            <a:ext cx="3840480" cy="1417320"/>
          </a:xfrm>
          <a:prstGeom prst="roundRect">
            <a:avLst>
              <a:gd name="adj" fmla="val 6452"/>
            </a:avLst>
          </a:prstGeom>
          <a:solidFill>
            <a:srgbClr val="E0F2FE"/>
          </a:solidFill>
          <a:ln w="12700">
            <a:solidFill>
              <a:srgbClr val="0EA5E9"/>
            </a:solidFill>
            <a:prstDash val="solid"/>
          </a:ln>
        </p:spPr>
      </p:sp>
      <p:sp>
        <p:nvSpPr>
          <p:cNvPr id="11" name="Text 9"/>
          <p:cNvSpPr txBox="1"/>
          <p:nvPr/>
        </p:nvSpPr>
        <p:spPr>
          <a:xfrm>
            <a:off x="8001000" y="3703320"/>
            <a:ext cx="3383280" cy="320040"/>
          </a:xfrm>
          <a:prstGeom prst="rect">
            <a:avLst/>
          </a:prstGeom>
          <a:noFill/>
          <a:ln/>
        </p:spPr>
        <p:txBody>
          <a:bodyPr wrap="square" lIns="0" tIns="0" rIns="0" bIns="0" rtlCol="0" anchor="ctr"/>
          <a:lstStyle/>
          <a:p>
            <a:pPr indent="0" marL="0">
              <a:buNone/>
            </a:pPr>
            <a:r>
              <a:rPr lang="en-US" sz="1100" b="1" dirty="0">
                <a:solidFill>
                  <a:srgbClr val="0369A1"/>
                </a:solidFill>
                <a:latin typeface="Calibri" pitchFamily="34" charset="0"/>
                <a:ea typeface="Calibri" pitchFamily="34" charset="-122"/>
                <a:cs typeface="Calibri" pitchFamily="34" charset="-120"/>
              </a:rPr>
              <a:t>LANGUAGE MODEL</a:t>
            </a:r>
            <a:endParaRPr lang="en-US" sz="1100" dirty="0"/>
          </a:p>
        </p:txBody>
      </p:sp>
      <p:sp>
        <p:nvSpPr>
          <p:cNvPr id="12" name="Text 10"/>
          <p:cNvSpPr txBox="1"/>
          <p:nvPr/>
        </p:nvSpPr>
        <p:spPr>
          <a:xfrm>
            <a:off x="8001000" y="4023360"/>
            <a:ext cx="3383280" cy="822960"/>
          </a:xfrm>
          <a:prstGeom prst="rect">
            <a:avLst/>
          </a:prstGeom>
          <a:noFill/>
          <a:ln/>
        </p:spPr>
        <p:txBody>
          <a:bodyPr wrap="square" lIns="0" tIns="0" rIns="0" bIns="0" rtlCol="0" anchor="ctr"/>
          <a:lstStyle/>
          <a:p>
            <a:pPr indent="0" marL="0">
              <a:lnSpc>
                <a:spcPct val="125000"/>
              </a:lnSpc>
              <a:buNone/>
            </a:pPr>
            <a:r>
              <a:rPr lang="en-US" sz="1250" dirty="0">
                <a:solidFill>
                  <a:srgbClr val="475569"/>
                </a:solidFill>
                <a:latin typeface="Calibri" pitchFamily="34" charset="0"/>
                <a:ea typeface="Calibri" pitchFamily="34" charset="-122"/>
                <a:cs typeface="Calibri" pitchFamily="34" charset="-120"/>
              </a:rPr>
              <a:t>Computes in the background, hungry for the same CPU cycles and fast memory.</a:t>
            </a:r>
            <a:endParaRPr lang="en-US" sz="1250" dirty="0"/>
          </a:p>
        </p:txBody>
      </p:sp>
      <p:sp>
        <p:nvSpPr>
          <p:cNvPr id="13" name="Text 11"/>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 2026 Gnomons</a:t>
            </a:r>
            <a:endParaRPr lang="en-US" sz="900" dirty="0"/>
          </a:p>
        </p:txBody>
      </p:sp>
      <p:sp>
        <p:nvSpPr>
          <p:cNvPr id="14" name="Text 12"/>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150" kern="0" dirty="0">
                <a:solidFill>
                  <a:srgbClr val="15803D"/>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713232"/>
            <a:ext cx="10515600" cy="73152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Two AI workloads, one chip</a:t>
            </a:r>
            <a:endParaRPr lang="en-US" sz="3000" dirty="0"/>
          </a:p>
        </p:txBody>
      </p:sp>
      <p:sp>
        <p:nvSpPr>
          <p:cNvPr id="4" name="Text 2"/>
          <p:cNvSpPr txBox="1"/>
          <p:nvPr/>
        </p:nvSpPr>
        <p:spPr>
          <a:xfrm>
            <a:off x="548640" y="1554480"/>
            <a:ext cx="11064240" cy="1371600"/>
          </a:xfrm>
          <a:prstGeom prst="rect">
            <a:avLst/>
          </a:prstGeom>
          <a:noFill/>
          <a:ln/>
        </p:spPr>
        <p:txBody>
          <a:bodyPr wrap="square" lIns="0" tIns="0" rIns="0" bIns="0" rtlCol="0" anchor="ctr"/>
          <a:lstStyle/>
          <a:p>
            <a:pPr indent="0" marL="0">
              <a:lnSpc>
                <a:spcPct val="130000"/>
              </a:lnSpc>
              <a:buNone/>
            </a:pPr>
            <a:r>
              <a:rPr lang="en-US" sz="1350" dirty="0">
                <a:solidFill>
                  <a:srgbClr val="475569"/>
                </a:solidFill>
                <a:latin typeface="Calibri" pitchFamily="34" charset="0"/>
                <a:ea typeface="Calibri" pitchFamily="34" charset="-122"/>
                <a:cs typeface="Calibri" pitchFamily="34" charset="-120"/>
              </a:rPr>
              <a:t>The vision half feeds an MIPI camera into palm-detection and hand-landmark models on the on-chip Ethos-U55 NPU; 21 joint positions become one of five named gestures through geometry ratio tests on the Cortex-M85. The language half runs a “Tiny” Llama2 model at 8-bit quantization, reading weights directly out of external Octo-SPI flash and calling the Cortex-M85's Helium vector instructions for int8 matrix multiply — 16 lanes per instruction instead of one.</a:t>
            </a:r>
            <a:endParaRPr lang="en-US" sz="1350" dirty="0"/>
          </a:p>
        </p:txBody>
      </p:sp>
      <p:sp>
        <p:nvSpPr>
          <p:cNvPr id="5" name="Shape 3"/>
          <p:cNvSpPr/>
          <p:nvPr/>
        </p:nvSpPr>
        <p:spPr>
          <a:xfrm>
            <a:off x="548640" y="3063240"/>
            <a:ext cx="5212080" cy="1417320"/>
          </a:xfrm>
          <a:prstGeom prst="roundRect">
            <a:avLst>
              <a:gd name="adj" fmla="val 6452"/>
            </a:avLst>
          </a:prstGeom>
          <a:solidFill>
            <a:srgbClr val="F0FDF4"/>
          </a:solidFill>
          <a:ln w="12700">
            <a:solidFill>
              <a:srgbClr val="16A34A"/>
            </a:solidFill>
            <a:prstDash val="solid"/>
          </a:ln>
        </p:spPr>
      </p:sp>
      <p:sp>
        <p:nvSpPr>
          <p:cNvPr id="6" name="Text 4"/>
          <p:cNvSpPr txBox="1"/>
          <p:nvPr/>
        </p:nvSpPr>
        <p:spPr>
          <a:xfrm>
            <a:off x="777240" y="3172968"/>
            <a:ext cx="4754880" cy="274320"/>
          </a:xfrm>
          <a:prstGeom prst="rect">
            <a:avLst/>
          </a:prstGeom>
          <a:noFill/>
          <a:ln/>
        </p:spPr>
        <p:txBody>
          <a:bodyPr wrap="square" lIns="0" tIns="0" rIns="0" bIns="0" rtlCol="0" anchor="ctr"/>
          <a:lstStyle/>
          <a:p>
            <a:pPr indent="0" marL="0">
              <a:buNone/>
            </a:pPr>
            <a:r>
              <a:rPr lang="en-US" sz="1000" b="1" dirty="0">
                <a:solidFill>
                  <a:srgbClr val="166534"/>
                </a:solidFill>
                <a:latin typeface="Calibri" pitchFamily="34" charset="0"/>
                <a:ea typeface="Calibri" pitchFamily="34" charset="-122"/>
                <a:cs typeface="Calibri" pitchFamily="34" charset="-120"/>
              </a:rPr>
              <a:t>VISION · T_CAM / T_AI</a:t>
            </a:r>
            <a:endParaRPr lang="en-US" sz="1000" dirty="0"/>
          </a:p>
        </p:txBody>
      </p:sp>
      <p:sp>
        <p:nvSpPr>
          <p:cNvPr id="7" name="Text 5"/>
          <p:cNvSpPr txBox="1"/>
          <p:nvPr/>
        </p:nvSpPr>
        <p:spPr>
          <a:xfrm>
            <a:off x="777240" y="3566160"/>
            <a:ext cx="4754880" cy="822960"/>
          </a:xfrm>
          <a:prstGeom prst="rect">
            <a:avLst/>
          </a:prstGeom>
          <a:noFill/>
          <a:ln/>
        </p:spPr>
        <p:txBody>
          <a:bodyPr wrap="square" lIns="0" tIns="0" rIns="0" bIns="0" rtlCol="0" anchor="ctr"/>
          <a:lstStyle/>
          <a:p>
            <a:pPr indent="0" marL="0">
              <a:lnSpc>
                <a:spcPct val="125000"/>
              </a:lnSpc>
              <a:buNone/>
            </a:pPr>
            <a:r>
              <a:rPr lang="en-US" sz="1200" dirty="0">
                <a:solidFill>
                  <a:srgbClr val="475569"/>
                </a:solidFill>
                <a:latin typeface="Calibri" pitchFamily="34" charset="0"/>
                <a:ea typeface="Calibri" pitchFamily="34" charset="-122"/>
                <a:cs typeface="Calibri" pitchFamily="34" charset="-120"/>
              </a:rPr>
              <a:t>MIPI Camera  →  Palm Detection  →  Hand Landmark (21 joints)  →  Gesture Geometry</a:t>
            </a:r>
            <a:endParaRPr lang="en-US" sz="1200" dirty="0"/>
          </a:p>
        </p:txBody>
      </p:sp>
      <p:sp>
        <p:nvSpPr>
          <p:cNvPr id="8" name="Shape 6"/>
          <p:cNvSpPr/>
          <p:nvPr/>
        </p:nvSpPr>
        <p:spPr>
          <a:xfrm>
            <a:off x="6080760" y="3063240"/>
            <a:ext cx="5212080" cy="1417320"/>
          </a:xfrm>
          <a:prstGeom prst="roundRect">
            <a:avLst>
              <a:gd name="adj" fmla="val 6452"/>
            </a:avLst>
          </a:prstGeom>
          <a:solidFill>
            <a:srgbClr val="E0F2FE"/>
          </a:solidFill>
          <a:ln w="12700">
            <a:solidFill>
              <a:srgbClr val="0EA5E9"/>
            </a:solidFill>
            <a:prstDash val="solid"/>
          </a:ln>
        </p:spPr>
      </p:sp>
      <p:sp>
        <p:nvSpPr>
          <p:cNvPr id="9" name="Text 7"/>
          <p:cNvSpPr txBox="1"/>
          <p:nvPr/>
        </p:nvSpPr>
        <p:spPr>
          <a:xfrm>
            <a:off x="6309360" y="3172968"/>
            <a:ext cx="4754880" cy="274320"/>
          </a:xfrm>
          <a:prstGeom prst="rect">
            <a:avLst/>
          </a:prstGeom>
          <a:noFill/>
          <a:ln/>
        </p:spPr>
        <p:txBody>
          <a:bodyPr wrap="square" lIns="0" tIns="0" rIns="0" bIns="0"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LANGUAGE · T_STORY</a:t>
            </a:r>
            <a:endParaRPr lang="en-US" sz="1000" dirty="0"/>
          </a:p>
        </p:txBody>
      </p:sp>
      <p:sp>
        <p:nvSpPr>
          <p:cNvPr id="10" name="Text 8"/>
          <p:cNvSpPr txBox="1"/>
          <p:nvPr/>
        </p:nvSpPr>
        <p:spPr>
          <a:xfrm>
            <a:off x="6309360" y="3566160"/>
            <a:ext cx="4754880" cy="822960"/>
          </a:xfrm>
          <a:prstGeom prst="rect">
            <a:avLst/>
          </a:prstGeom>
          <a:noFill/>
          <a:ln/>
        </p:spPr>
        <p:txBody>
          <a:bodyPr wrap="square" lIns="0" tIns="0" rIns="0" bIns="0" rtlCol="0" anchor="ctr"/>
          <a:lstStyle/>
          <a:p>
            <a:pPr indent="0" marL="0">
              <a:lnSpc>
                <a:spcPct val="125000"/>
              </a:lnSpc>
              <a:buNone/>
            </a:pPr>
            <a:r>
              <a:rPr lang="en-US" sz="1200" dirty="0">
                <a:solidFill>
                  <a:srgbClr val="475569"/>
                </a:solidFill>
                <a:latin typeface="Calibri" pitchFamily="34" charset="0"/>
                <a:ea typeface="Calibri" pitchFamily="34" charset="-122"/>
                <a:cs typeface="Calibri" pitchFamily="34" charset="-120"/>
              </a:rPr>
              <a:t>Tiny Llama2  →  int8 Matrix Multiply (Helium)  →  Weights read from flash  →  Token stream</a:t>
            </a:r>
            <a:endParaRPr lang="en-US" sz="1200" dirty="0"/>
          </a:p>
        </p:txBody>
      </p:sp>
      <p:sp>
        <p:nvSpPr>
          <p:cNvPr id="11" name="Shape 9"/>
          <p:cNvSpPr/>
          <p:nvPr/>
        </p:nvSpPr>
        <p:spPr>
          <a:xfrm>
            <a:off x="548640" y="4663440"/>
            <a:ext cx="10744200" cy="566928"/>
          </a:xfrm>
          <a:prstGeom prst="roundRect">
            <a:avLst>
              <a:gd name="adj" fmla="val 12903"/>
            </a:avLst>
          </a:prstGeom>
          <a:solidFill>
            <a:srgbClr val="F0FDF4"/>
          </a:solidFill>
          <a:ln w="15240">
            <a:solidFill>
              <a:srgbClr val="16A34A"/>
            </a:solidFill>
            <a:prstDash val="dash"/>
          </a:ln>
        </p:spPr>
      </p:sp>
      <p:sp>
        <p:nvSpPr>
          <p:cNvPr id="12" name="Text 10"/>
          <p:cNvSpPr txBox="1"/>
          <p:nvPr/>
        </p:nvSpPr>
        <p:spPr>
          <a:xfrm>
            <a:off x="548640" y="4663440"/>
            <a:ext cx="10744200" cy="566928"/>
          </a:xfrm>
          <a:prstGeom prst="rect">
            <a:avLst/>
          </a:prstGeom>
          <a:noFill/>
          <a:ln/>
        </p:spPr>
        <p:txBody>
          <a:bodyPr wrap="square" lIns="0" tIns="0" rIns="0" bIns="0" rtlCol="0" anchor="ctr"/>
          <a:lstStyle/>
          <a:p>
            <a:pPr algn="ctr" indent="0" marL="0">
              <a:buNone/>
            </a:pPr>
            <a:r>
              <a:rPr lang="en-US" sz="1100" b="1" dirty="0">
                <a:solidFill>
                  <a:srgbClr val="166534"/>
                </a:solidFill>
                <a:latin typeface="Calibri" pitchFamily="34" charset="0"/>
                <a:ea typeface="Calibri" pitchFamily="34" charset="-122"/>
                <a:cs typeface="Calibri" pitchFamily="34" charset="-120"/>
              </a:rPr>
              <a:t>SINGLE µT-KERNEL EVENT FLAG  —  ready / done bits only · interrupts set bits directly · nothing to overflow</a:t>
            </a:r>
            <a:endParaRPr lang="en-US" sz="1100" dirty="0"/>
          </a:p>
        </p:txBody>
      </p:sp>
      <p:sp>
        <p:nvSpPr>
          <p:cNvPr id="13" name="Shape 11"/>
          <p:cNvSpPr/>
          <p:nvPr/>
        </p:nvSpPr>
        <p:spPr>
          <a:xfrm>
            <a:off x="548640" y="5440680"/>
            <a:ext cx="2542032" cy="502920"/>
          </a:xfrm>
          <a:prstGeom prst="roundRect">
            <a:avLst>
              <a:gd name="adj" fmla="val 10909"/>
            </a:avLst>
          </a:prstGeom>
          <a:solidFill>
            <a:srgbClr val="F8FAFC"/>
          </a:solidFill>
          <a:ln w="12700">
            <a:solidFill>
              <a:srgbClr val="E2E8F0"/>
            </a:solidFill>
            <a:prstDash val="solid"/>
          </a:ln>
        </p:spPr>
      </p:sp>
      <p:sp>
        <p:nvSpPr>
          <p:cNvPr id="14" name="Text 12"/>
          <p:cNvSpPr txBox="1"/>
          <p:nvPr/>
        </p:nvSpPr>
        <p:spPr>
          <a:xfrm>
            <a:off x="548640" y="5440680"/>
            <a:ext cx="2542032" cy="50292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ETHOS-U55 NPU</a:t>
            </a:r>
            <a:endParaRPr lang="en-US" sz="1050" dirty="0"/>
          </a:p>
        </p:txBody>
      </p:sp>
      <p:sp>
        <p:nvSpPr>
          <p:cNvPr id="15" name="Shape 13"/>
          <p:cNvSpPr/>
          <p:nvPr/>
        </p:nvSpPr>
        <p:spPr>
          <a:xfrm>
            <a:off x="3182112" y="5440680"/>
            <a:ext cx="2542032" cy="502920"/>
          </a:xfrm>
          <a:prstGeom prst="roundRect">
            <a:avLst>
              <a:gd name="adj" fmla="val 10909"/>
            </a:avLst>
          </a:prstGeom>
          <a:solidFill>
            <a:srgbClr val="F8FAFC"/>
          </a:solidFill>
          <a:ln w="12700">
            <a:solidFill>
              <a:srgbClr val="E2E8F0"/>
            </a:solidFill>
            <a:prstDash val="solid"/>
          </a:ln>
        </p:spPr>
      </p:sp>
      <p:sp>
        <p:nvSpPr>
          <p:cNvPr id="16" name="Text 14"/>
          <p:cNvSpPr txBox="1"/>
          <p:nvPr/>
        </p:nvSpPr>
        <p:spPr>
          <a:xfrm>
            <a:off x="3182112" y="5440680"/>
            <a:ext cx="2542032" cy="50292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CORTEX-M85 + HELIUM</a:t>
            </a:r>
            <a:endParaRPr lang="en-US" sz="1050" dirty="0"/>
          </a:p>
        </p:txBody>
      </p:sp>
      <p:sp>
        <p:nvSpPr>
          <p:cNvPr id="17" name="Shape 15"/>
          <p:cNvSpPr/>
          <p:nvPr/>
        </p:nvSpPr>
        <p:spPr>
          <a:xfrm>
            <a:off x="5815584" y="5440680"/>
            <a:ext cx="2542032" cy="502920"/>
          </a:xfrm>
          <a:prstGeom prst="roundRect">
            <a:avLst>
              <a:gd name="adj" fmla="val 10909"/>
            </a:avLst>
          </a:prstGeom>
          <a:solidFill>
            <a:srgbClr val="F8FAFC"/>
          </a:solidFill>
          <a:ln w="12700">
            <a:solidFill>
              <a:srgbClr val="E2E8F0"/>
            </a:solidFill>
            <a:prstDash val="solid"/>
          </a:ln>
        </p:spPr>
      </p:sp>
      <p:sp>
        <p:nvSpPr>
          <p:cNvPr id="18" name="Text 16"/>
          <p:cNvSpPr txBox="1"/>
          <p:nvPr/>
        </p:nvSpPr>
        <p:spPr>
          <a:xfrm>
            <a:off x="5815584" y="5440680"/>
            <a:ext cx="2542032" cy="50292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OCTO-SPI FLASH</a:t>
            </a:r>
            <a:endParaRPr lang="en-US" sz="1050" dirty="0"/>
          </a:p>
        </p:txBody>
      </p:sp>
      <p:sp>
        <p:nvSpPr>
          <p:cNvPr id="19" name="Shape 17"/>
          <p:cNvSpPr/>
          <p:nvPr/>
        </p:nvSpPr>
        <p:spPr>
          <a:xfrm>
            <a:off x="8449056" y="5440680"/>
            <a:ext cx="2542032" cy="502920"/>
          </a:xfrm>
          <a:prstGeom prst="roundRect">
            <a:avLst>
              <a:gd name="adj" fmla="val 10909"/>
            </a:avLst>
          </a:prstGeom>
          <a:solidFill>
            <a:srgbClr val="F8FAFC"/>
          </a:solidFill>
          <a:ln w="12700">
            <a:solidFill>
              <a:srgbClr val="E2E8F0"/>
            </a:solidFill>
            <a:prstDash val="solid"/>
          </a:ln>
        </p:spPr>
      </p:sp>
      <p:sp>
        <p:nvSpPr>
          <p:cNvPr id="20" name="Text 18"/>
          <p:cNvSpPr txBox="1"/>
          <p:nvPr/>
        </p:nvSpPr>
        <p:spPr>
          <a:xfrm>
            <a:off x="8449056" y="5440680"/>
            <a:ext cx="2542032" cy="50292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SDRAM</a:t>
            </a:r>
            <a:endParaRPr lang="en-US" sz="1050" dirty="0"/>
          </a:p>
        </p:txBody>
      </p:sp>
      <p:sp>
        <p:nvSpPr>
          <p:cNvPr id="21" name="Text 19"/>
          <p:cNvSpPr txBox="1"/>
          <p:nvPr/>
        </p:nvSpPr>
        <p:spPr>
          <a:xfrm>
            <a:off x="548640" y="5148072"/>
            <a:ext cx="3657600" cy="274320"/>
          </a:xfrm>
          <a:prstGeom prst="rect">
            <a:avLst/>
          </a:prstGeom>
          <a:noFill/>
          <a:ln/>
        </p:spPr>
        <p:txBody>
          <a:bodyPr wrap="square" lIns="0" tIns="0" rIns="0" bIns="0" rtlCol="0" anchor="ctr"/>
          <a:lstStyle/>
          <a:p>
            <a:pPr indent="0" marL="0">
              <a:buNone/>
            </a:pPr>
            <a:r>
              <a:rPr lang="en-US" sz="950" b="1" spc="100" kern="0" dirty="0">
                <a:solidFill>
                  <a:srgbClr val="64748B"/>
                </a:solidFill>
                <a:latin typeface="Calibri" pitchFamily="34" charset="0"/>
                <a:ea typeface="Calibri" pitchFamily="34" charset="-122"/>
                <a:cs typeface="Calibri" pitchFamily="34" charset="-120"/>
              </a:rPr>
              <a:t>RENESAS RA8P1</a:t>
            </a:r>
            <a:endParaRPr lang="en-US" sz="950" dirty="0"/>
          </a:p>
        </p:txBody>
      </p:sp>
      <p:sp>
        <p:nvSpPr>
          <p:cNvPr id="22" name="Text 20"/>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 2026 Gnomons</a:t>
            </a:r>
            <a:endParaRPr lang="en-US" sz="900" dirty="0"/>
          </a:p>
        </p:txBody>
      </p:sp>
      <p:sp>
        <p:nvSpPr>
          <p:cNvPr id="23" name="Text 21"/>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150" kern="0" dirty="0">
                <a:solidFill>
                  <a:srgbClr val="15803D"/>
                </a:solidFill>
                <a:latin typeface="Calibri" pitchFamily="34" charset="0"/>
                <a:ea typeface="Calibri" pitchFamily="34" charset="-122"/>
                <a:cs typeface="Calibri" pitchFamily="34" charset="-120"/>
              </a:rPr>
              <a:t>SCHEDULING</a:t>
            </a:r>
            <a:endParaRPr lang="en-US" sz="1200" dirty="0"/>
          </a:p>
        </p:txBody>
      </p:sp>
      <p:sp>
        <p:nvSpPr>
          <p:cNvPr id="3" name="Text 1"/>
          <p:cNvSpPr txBox="1"/>
          <p:nvPr/>
        </p:nvSpPr>
        <p:spPr>
          <a:xfrm>
            <a:off x="548640" y="713232"/>
            <a:ext cx="10515600" cy="73152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Fixed priorities keep vision responsive</a:t>
            </a:r>
            <a:endParaRPr lang="en-US" sz="3000" dirty="0"/>
          </a:p>
        </p:txBody>
      </p:sp>
      <p:sp>
        <p:nvSpPr>
          <p:cNvPr id="4" name="Text 2"/>
          <p:cNvSpPr txBox="1"/>
          <p:nvPr/>
        </p:nvSpPr>
        <p:spPr>
          <a:xfrm>
            <a:off x="548640" y="1600200"/>
            <a:ext cx="11064240" cy="1097280"/>
          </a:xfrm>
          <a:prstGeom prst="rect">
            <a:avLst/>
          </a:prstGeom>
          <a:noFill/>
          <a:ln/>
        </p:spPr>
        <p:txBody>
          <a:bodyPr wrap="square" lIns="0" tIns="0" rIns="0" bIns="0" rtlCol="0" anchor="ctr"/>
          <a:lstStyle/>
          <a:p>
            <a:pPr indent="0" marL="0">
              <a:lnSpc>
                <a:spcPct val="130000"/>
              </a:lnSpc>
              <a:buNone/>
            </a:pPr>
            <a:r>
              <a:rPr lang="en-US" sz="1400" dirty="0">
                <a:solidFill>
                  <a:srgbClr val="475569"/>
                </a:solidFill>
                <a:latin typeface="Calibri" pitchFamily="34" charset="0"/>
                <a:ea typeface="Calibri" pitchFamily="34" charset="-122"/>
                <a:cs typeface="Calibri" pitchFamily="34" charset="-120"/>
              </a:rPr>
              <a:t>µT-Kernel's fixed task priorities let these two workloads share one chip safely, as four application tasks. Story generation only uses CPU time left over after the other three, so it cannot delay the camera or the display: the camera picture keeps updating and story text keeps appearing together, with no dropped frames on the panel.</a:t>
            </a:r>
            <a:endParaRPr lang="en-US" sz="1400" dirty="0"/>
          </a:p>
        </p:txBody>
      </p:sp>
      <p:sp>
        <p:nvSpPr>
          <p:cNvPr id="5" name="Shape 3"/>
          <p:cNvSpPr/>
          <p:nvPr/>
        </p:nvSpPr>
        <p:spPr>
          <a:xfrm>
            <a:off x="548640" y="2880360"/>
            <a:ext cx="11064240" cy="768096"/>
          </a:xfrm>
          <a:prstGeom prst="rect">
            <a:avLst/>
          </a:prstGeom>
          <a:solidFill>
            <a:srgbClr val="FFFFFF"/>
          </a:solidFill>
          <a:ln w="9525">
            <a:solidFill>
              <a:srgbClr val="E2E8F0"/>
            </a:solidFill>
            <a:prstDash val="solid"/>
          </a:ln>
        </p:spPr>
      </p:sp>
      <p:sp>
        <p:nvSpPr>
          <p:cNvPr id="6" name="Text 4"/>
          <p:cNvSpPr txBox="1"/>
          <p:nvPr/>
        </p:nvSpPr>
        <p:spPr>
          <a:xfrm>
            <a:off x="777240" y="2880360"/>
            <a:ext cx="1828800" cy="7680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T_CAM</a:t>
            </a:r>
            <a:endParaRPr lang="en-US" sz="1400" dirty="0"/>
          </a:p>
        </p:txBody>
      </p:sp>
      <p:sp>
        <p:nvSpPr>
          <p:cNvPr id="7" name="Text 5"/>
          <p:cNvSpPr txBox="1"/>
          <p:nvPr/>
        </p:nvSpPr>
        <p:spPr>
          <a:xfrm>
            <a:off x="777240" y="3264408"/>
            <a:ext cx="18288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camera capture</a:t>
            </a:r>
            <a:endParaRPr lang="en-US" sz="1000" dirty="0"/>
          </a:p>
        </p:txBody>
      </p:sp>
      <p:sp>
        <p:nvSpPr>
          <p:cNvPr id="8" name="Text 6"/>
          <p:cNvSpPr txBox="1"/>
          <p:nvPr/>
        </p:nvSpPr>
        <p:spPr>
          <a:xfrm>
            <a:off x="2743200" y="2880360"/>
            <a:ext cx="6949440" cy="768096"/>
          </a:xfrm>
          <a:prstGeom prst="rect">
            <a:avLst/>
          </a:prstGeom>
          <a:noFill/>
          <a:ln/>
        </p:spPr>
        <p:txBody>
          <a:bodyPr wrap="square" lIns="0" tIns="0" rIns="0" bIns="0" rtlCol="0" anchor="ctr"/>
          <a:lstStyle/>
          <a:p>
            <a:pPr indent="0" marL="0">
              <a:lnSpc>
                <a:spcPct val="120000"/>
              </a:lnSpc>
              <a:buNone/>
            </a:pPr>
            <a:r>
              <a:rPr lang="en-US" sz="1200" dirty="0">
                <a:solidFill>
                  <a:srgbClr val="475569"/>
                </a:solidFill>
                <a:latin typeface="Calibri" pitchFamily="34" charset="0"/>
                <a:ea typeface="Calibri" pitchFamily="34" charset="-122"/>
                <a:cs typeface="Calibri" pitchFamily="34" charset="-120"/>
              </a:rPr>
              <a:t>Captures each camera frame and hands it to the vision pipeline. Highest priority so the live picture never stalls.</a:t>
            </a:r>
            <a:endParaRPr lang="en-US" sz="1200" dirty="0"/>
          </a:p>
        </p:txBody>
      </p:sp>
      <p:sp>
        <p:nvSpPr>
          <p:cNvPr id="9" name="Shape 7"/>
          <p:cNvSpPr/>
          <p:nvPr/>
        </p:nvSpPr>
        <p:spPr>
          <a:xfrm>
            <a:off x="9921240" y="3099816"/>
            <a:ext cx="1508760" cy="329184"/>
          </a:xfrm>
          <a:prstGeom prst="roundRect">
            <a:avLst>
              <a:gd name="adj" fmla="val 50000"/>
            </a:avLst>
          </a:prstGeom>
          <a:solidFill>
            <a:srgbClr val="DCFCE7"/>
          </a:solidFill>
          <a:ln/>
        </p:spPr>
      </p:sp>
      <p:sp>
        <p:nvSpPr>
          <p:cNvPr id="10" name="Text 8"/>
          <p:cNvSpPr txBox="1"/>
          <p:nvPr/>
        </p:nvSpPr>
        <p:spPr>
          <a:xfrm>
            <a:off x="9921240" y="3099816"/>
            <a:ext cx="1508760" cy="329184"/>
          </a:xfrm>
          <a:prstGeom prst="rect">
            <a:avLst/>
          </a:prstGeom>
          <a:noFill/>
          <a:ln/>
        </p:spPr>
        <p:txBody>
          <a:bodyPr wrap="square" lIns="0" tIns="0" rIns="0" bIns="0" rtlCol="0" anchor="ctr"/>
          <a:lstStyle/>
          <a:p>
            <a:pPr algn="ctr" indent="0" marL="0">
              <a:buNone/>
            </a:pPr>
            <a:r>
              <a:rPr lang="en-US" sz="1000" b="1" dirty="0">
                <a:solidFill>
                  <a:srgbClr val="166534"/>
                </a:solidFill>
                <a:latin typeface="Calibri" pitchFamily="34" charset="0"/>
                <a:ea typeface="Calibri" pitchFamily="34" charset="-122"/>
                <a:cs typeface="Calibri" pitchFamily="34" charset="-120"/>
              </a:rPr>
              <a:t>HIGHEST</a:t>
            </a:r>
            <a:endParaRPr lang="en-US" sz="1000" dirty="0"/>
          </a:p>
        </p:txBody>
      </p:sp>
      <p:sp>
        <p:nvSpPr>
          <p:cNvPr id="11" name="Shape 9"/>
          <p:cNvSpPr/>
          <p:nvPr/>
        </p:nvSpPr>
        <p:spPr>
          <a:xfrm>
            <a:off x="548640" y="3721608"/>
            <a:ext cx="11064240" cy="768096"/>
          </a:xfrm>
          <a:prstGeom prst="rect">
            <a:avLst/>
          </a:prstGeom>
          <a:solidFill>
            <a:srgbClr val="F8FAFC"/>
          </a:solidFill>
          <a:ln w="9525">
            <a:solidFill>
              <a:srgbClr val="E2E8F0"/>
            </a:solidFill>
            <a:prstDash val="solid"/>
          </a:ln>
        </p:spPr>
      </p:sp>
      <p:sp>
        <p:nvSpPr>
          <p:cNvPr id="12" name="Text 10"/>
          <p:cNvSpPr txBox="1"/>
          <p:nvPr/>
        </p:nvSpPr>
        <p:spPr>
          <a:xfrm>
            <a:off x="777240" y="3721608"/>
            <a:ext cx="1828800" cy="7680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T_AI</a:t>
            </a:r>
            <a:endParaRPr lang="en-US" sz="1400" dirty="0"/>
          </a:p>
        </p:txBody>
      </p:sp>
      <p:sp>
        <p:nvSpPr>
          <p:cNvPr id="13" name="Text 11"/>
          <p:cNvSpPr txBox="1"/>
          <p:nvPr/>
        </p:nvSpPr>
        <p:spPr>
          <a:xfrm>
            <a:off x="777240" y="4105656"/>
            <a:ext cx="18288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AI inference</a:t>
            </a:r>
            <a:endParaRPr lang="en-US" sz="1000" dirty="0"/>
          </a:p>
        </p:txBody>
      </p:sp>
      <p:sp>
        <p:nvSpPr>
          <p:cNvPr id="14" name="Text 12"/>
          <p:cNvSpPr txBox="1"/>
          <p:nvPr/>
        </p:nvSpPr>
        <p:spPr>
          <a:xfrm>
            <a:off x="2743200" y="3721608"/>
            <a:ext cx="6949440" cy="768096"/>
          </a:xfrm>
          <a:prstGeom prst="rect">
            <a:avLst/>
          </a:prstGeom>
          <a:noFill/>
          <a:ln/>
        </p:spPr>
        <p:txBody>
          <a:bodyPr wrap="square" lIns="0" tIns="0" rIns="0" bIns="0" rtlCol="0" anchor="ctr"/>
          <a:lstStyle/>
          <a:p>
            <a:pPr indent="0" marL="0">
              <a:lnSpc>
                <a:spcPct val="120000"/>
              </a:lnSpc>
              <a:buNone/>
            </a:pPr>
            <a:r>
              <a:rPr lang="en-US" sz="1200" dirty="0">
                <a:solidFill>
                  <a:srgbClr val="475569"/>
                </a:solidFill>
                <a:latin typeface="Calibri" pitchFamily="34" charset="0"/>
                <a:ea typeface="Calibri" pitchFamily="34" charset="-122"/>
                <a:cs typeface="Calibri" pitchFamily="34" charset="-120"/>
              </a:rPr>
              <a:t>Runs palm detection and hand-landmark inference on the NPU, then the gesture geometry on the Cortex-M85.</a:t>
            </a:r>
            <a:endParaRPr lang="en-US" sz="1200" dirty="0"/>
          </a:p>
        </p:txBody>
      </p:sp>
      <p:sp>
        <p:nvSpPr>
          <p:cNvPr id="15" name="Shape 13"/>
          <p:cNvSpPr/>
          <p:nvPr/>
        </p:nvSpPr>
        <p:spPr>
          <a:xfrm>
            <a:off x="9921240" y="3941064"/>
            <a:ext cx="1508760" cy="329184"/>
          </a:xfrm>
          <a:prstGeom prst="roundRect">
            <a:avLst>
              <a:gd name="adj" fmla="val 50000"/>
            </a:avLst>
          </a:prstGeom>
          <a:solidFill>
            <a:srgbClr val="DCFCE7"/>
          </a:solidFill>
          <a:ln/>
        </p:spPr>
      </p:sp>
      <p:sp>
        <p:nvSpPr>
          <p:cNvPr id="16" name="Text 14"/>
          <p:cNvSpPr txBox="1"/>
          <p:nvPr/>
        </p:nvSpPr>
        <p:spPr>
          <a:xfrm>
            <a:off x="9921240" y="3941064"/>
            <a:ext cx="1508760" cy="329184"/>
          </a:xfrm>
          <a:prstGeom prst="rect">
            <a:avLst/>
          </a:prstGeom>
          <a:noFill/>
          <a:ln/>
        </p:spPr>
        <p:txBody>
          <a:bodyPr wrap="square" lIns="0" tIns="0" rIns="0" bIns="0" rtlCol="0" anchor="ct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p>
        </p:txBody>
      </p:sp>
      <p:sp>
        <p:nvSpPr>
          <p:cNvPr id="17" name="Shape 15"/>
          <p:cNvSpPr/>
          <p:nvPr/>
        </p:nvSpPr>
        <p:spPr>
          <a:xfrm>
            <a:off x="548640" y="4562856"/>
            <a:ext cx="11064240" cy="768096"/>
          </a:xfrm>
          <a:prstGeom prst="rect">
            <a:avLst/>
          </a:prstGeom>
          <a:solidFill>
            <a:srgbClr val="FFFFFF"/>
          </a:solidFill>
          <a:ln w="9525">
            <a:solidFill>
              <a:srgbClr val="E2E8F0"/>
            </a:solidFill>
            <a:prstDash val="solid"/>
          </a:ln>
        </p:spPr>
      </p:sp>
      <p:sp>
        <p:nvSpPr>
          <p:cNvPr id="18" name="Text 16"/>
          <p:cNvSpPr txBox="1"/>
          <p:nvPr/>
        </p:nvSpPr>
        <p:spPr>
          <a:xfrm>
            <a:off x="777240" y="4562856"/>
            <a:ext cx="1828800" cy="7680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T_UI</a:t>
            </a:r>
            <a:endParaRPr lang="en-US" sz="1400" dirty="0"/>
          </a:p>
        </p:txBody>
      </p:sp>
      <p:sp>
        <p:nvSpPr>
          <p:cNvPr id="19" name="Text 17"/>
          <p:cNvSpPr txBox="1"/>
          <p:nvPr/>
        </p:nvSpPr>
        <p:spPr>
          <a:xfrm>
            <a:off x="777240" y="4946904"/>
            <a:ext cx="18288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UI &amp; conversation</a:t>
            </a:r>
            <a:endParaRPr lang="en-US" sz="1000" dirty="0"/>
          </a:p>
        </p:txBody>
      </p:sp>
      <p:sp>
        <p:nvSpPr>
          <p:cNvPr id="20" name="Text 18"/>
          <p:cNvSpPr txBox="1"/>
          <p:nvPr/>
        </p:nvSpPr>
        <p:spPr>
          <a:xfrm>
            <a:off x="2743200" y="4562856"/>
            <a:ext cx="6949440" cy="768096"/>
          </a:xfrm>
          <a:prstGeom prst="rect">
            <a:avLst/>
          </a:prstGeom>
          <a:noFill/>
          <a:ln/>
        </p:spPr>
        <p:txBody>
          <a:bodyPr wrap="square" lIns="0" tIns="0" rIns="0" bIns="0" rtlCol="0" anchor="ctr"/>
          <a:lstStyle/>
          <a:p>
            <a:pPr indent="0" marL="0">
              <a:lnSpc>
                <a:spcPct val="120000"/>
              </a:lnSpc>
              <a:buNone/>
            </a:pPr>
            <a:r>
              <a:rPr lang="en-US" sz="1200" dirty="0">
                <a:solidFill>
                  <a:srgbClr val="475569"/>
                </a:solidFill>
                <a:latin typeface="Calibri" pitchFamily="34" charset="0"/>
                <a:ea typeface="Calibri" pitchFamily="34" charset="-122"/>
                <a:cs typeface="Calibri" pitchFamily="34" charset="-120"/>
              </a:rPr>
              <a:t>Owns the conversation state machine and draws the whole screen — camera picture, face, game, and story text.</a:t>
            </a:r>
            <a:endParaRPr lang="en-US" sz="1200" dirty="0"/>
          </a:p>
        </p:txBody>
      </p:sp>
      <p:sp>
        <p:nvSpPr>
          <p:cNvPr id="21" name="Shape 19"/>
          <p:cNvSpPr/>
          <p:nvPr/>
        </p:nvSpPr>
        <p:spPr>
          <a:xfrm>
            <a:off x="9921240" y="4782312"/>
            <a:ext cx="1508760" cy="329184"/>
          </a:xfrm>
          <a:prstGeom prst="roundRect">
            <a:avLst>
              <a:gd name="adj" fmla="val 50000"/>
            </a:avLst>
          </a:prstGeom>
          <a:solidFill>
            <a:srgbClr val="DCFCE7"/>
          </a:solidFill>
          <a:ln/>
        </p:spPr>
      </p:sp>
      <p:sp>
        <p:nvSpPr>
          <p:cNvPr id="22" name="Text 20"/>
          <p:cNvSpPr txBox="1"/>
          <p:nvPr/>
        </p:nvSpPr>
        <p:spPr>
          <a:xfrm>
            <a:off x="9921240" y="4782312"/>
            <a:ext cx="1508760" cy="329184"/>
          </a:xfrm>
          <a:prstGeom prst="rect">
            <a:avLst/>
          </a:prstGeom>
          <a:noFill/>
          <a:ln/>
        </p:spPr>
        <p:txBody>
          <a:bodyPr wrap="square" lIns="0" tIns="0" rIns="0" bIns="0" rtlCol="0" anchor="ctr"/>
          <a:lstStyle/>
          <a:p>
            <a:pPr algn="ctr" indent="0" marL="0">
              <a:buNone/>
            </a:pPr>
            <a:r>
              <a:rPr lang="en-US" sz="1000" b="1" dirty="0">
                <a:solidFill>
                  <a:srgbClr val="166534"/>
                </a:solidFill>
                <a:latin typeface="Calibri" pitchFamily="34" charset="0"/>
                <a:ea typeface="Calibri" pitchFamily="34" charset="-122"/>
                <a:cs typeface="Calibri" pitchFamily="34" charset="-120"/>
              </a:rPr>
              <a:t>MEDIUM</a:t>
            </a:r>
            <a:endParaRPr lang="en-US" sz="1000" dirty="0"/>
          </a:p>
        </p:txBody>
      </p:sp>
      <p:sp>
        <p:nvSpPr>
          <p:cNvPr id="23" name="Shape 21"/>
          <p:cNvSpPr/>
          <p:nvPr/>
        </p:nvSpPr>
        <p:spPr>
          <a:xfrm>
            <a:off x="548640" y="5404104"/>
            <a:ext cx="11064240" cy="768096"/>
          </a:xfrm>
          <a:prstGeom prst="rect">
            <a:avLst/>
          </a:prstGeom>
          <a:solidFill>
            <a:srgbClr val="F8FAFC"/>
          </a:solidFill>
          <a:ln w="9525">
            <a:solidFill>
              <a:srgbClr val="E2E8F0"/>
            </a:solidFill>
            <a:prstDash val="solid"/>
          </a:ln>
        </p:spPr>
      </p:sp>
      <p:sp>
        <p:nvSpPr>
          <p:cNvPr id="24" name="Text 22"/>
          <p:cNvSpPr txBox="1"/>
          <p:nvPr/>
        </p:nvSpPr>
        <p:spPr>
          <a:xfrm>
            <a:off x="777240" y="5404104"/>
            <a:ext cx="1828800" cy="7680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T_STORY</a:t>
            </a:r>
            <a:endParaRPr lang="en-US" sz="1400" dirty="0"/>
          </a:p>
        </p:txBody>
      </p:sp>
      <p:sp>
        <p:nvSpPr>
          <p:cNvPr id="25" name="Text 23"/>
          <p:cNvSpPr txBox="1"/>
          <p:nvPr/>
        </p:nvSpPr>
        <p:spPr>
          <a:xfrm>
            <a:off x="777240" y="5788152"/>
            <a:ext cx="18288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story generation</a:t>
            </a:r>
            <a:endParaRPr lang="en-US" sz="1000" dirty="0"/>
          </a:p>
        </p:txBody>
      </p:sp>
      <p:sp>
        <p:nvSpPr>
          <p:cNvPr id="26" name="Text 24"/>
          <p:cNvSpPr txBox="1"/>
          <p:nvPr/>
        </p:nvSpPr>
        <p:spPr>
          <a:xfrm>
            <a:off x="2743200" y="5404104"/>
            <a:ext cx="6949440" cy="768096"/>
          </a:xfrm>
          <a:prstGeom prst="rect">
            <a:avLst/>
          </a:prstGeom>
          <a:noFill/>
          <a:ln/>
        </p:spPr>
        <p:txBody>
          <a:bodyPr wrap="square" lIns="0" tIns="0" rIns="0" bIns="0" rtlCol="0" anchor="ctr"/>
          <a:lstStyle/>
          <a:p>
            <a:pPr indent="0" marL="0">
              <a:lnSpc>
                <a:spcPct val="120000"/>
              </a:lnSpc>
              <a:buNone/>
            </a:pPr>
            <a:r>
              <a:rPr lang="en-US" sz="1200" dirty="0">
                <a:solidFill>
                  <a:srgbClr val="475569"/>
                </a:solidFill>
                <a:latin typeface="Calibri" pitchFamily="34" charset="0"/>
                <a:ea typeface="Calibri" pitchFamily="34" charset="-122"/>
                <a:cs typeface="Calibri" pitchFamily="34" charset="-120"/>
              </a:rPr>
              <a:t>Generates story text one token at a time, using only whatever CPU time the other three tasks leave behind.</a:t>
            </a:r>
            <a:endParaRPr lang="en-US" sz="1200" dirty="0"/>
          </a:p>
        </p:txBody>
      </p:sp>
      <p:sp>
        <p:nvSpPr>
          <p:cNvPr id="27" name="Shape 25"/>
          <p:cNvSpPr/>
          <p:nvPr/>
        </p:nvSpPr>
        <p:spPr>
          <a:xfrm>
            <a:off x="9921240" y="5623560"/>
            <a:ext cx="1508760" cy="329184"/>
          </a:xfrm>
          <a:prstGeom prst="roundRect">
            <a:avLst>
              <a:gd name="adj" fmla="val 50000"/>
            </a:avLst>
          </a:prstGeom>
          <a:solidFill>
            <a:srgbClr val="F1F5F9"/>
          </a:solidFill>
          <a:ln/>
        </p:spPr>
      </p:sp>
      <p:sp>
        <p:nvSpPr>
          <p:cNvPr id="28" name="Text 26"/>
          <p:cNvSpPr txBox="1"/>
          <p:nvPr/>
        </p:nvSpPr>
        <p:spPr>
          <a:xfrm>
            <a:off x="9921240" y="5623560"/>
            <a:ext cx="1508760" cy="329184"/>
          </a:xfrm>
          <a:prstGeom prst="rect">
            <a:avLst/>
          </a:prstGeom>
          <a:noFill/>
          <a:ln/>
        </p:spPr>
        <p:txBody>
          <a:bodyPr wrap="square" lIns="0" tIns="0" rIns="0" bIns="0" rtlCol="0" anchor="ctr"/>
          <a:lstStyle/>
          <a:p>
            <a:pPr algn="ctr" indent="0" marL="0">
              <a:buNone/>
            </a:pPr>
            <a:r>
              <a:rPr lang="en-US" sz="1000" b="1" dirty="0">
                <a:solidFill>
                  <a:srgbClr val="64748B"/>
                </a:solidFill>
                <a:latin typeface="Calibri" pitchFamily="34" charset="0"/>
                <a:ea typeface="Calibri" pitchFamily="34" charset="-122"/>
                <a:cs typeface="Calibri" pitchFamily="34" charset="-120"/>
              </a:rPr>
              <a:t>LOWEST</a:t>
            </a:r>
            <a:endParaRPr lang="en-US" sz="1000" dirty="0"/>
          </a:p>
        </p:txBody>
      </p:sp>
      <p:sp>
        <p:nvSpPr>
          <p:cNvPr id="29" name="Text 27"/>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 2026 Gnomons</a:t>
            </a:r>
            <a:endParaRPr lang="en-US" sz="900" dirty="0"/>
          </a:p>
        </p:txBody>
      </p:sp>
      <p:sp>
        <p:nvSpPr>
          <p:cNvPr id="30" name="Text 28"/>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150" kern="0" dirty="0">
                <a:solidFill>
                  <a:srgbClr val="15803D"/>
                </a:solidFill>
                <a:latin typeface="Calibri" pitchFamily="34" charset="0"/>
                <a:ea typeface="Calibri" pitchFamily="34" charset="-122"/>
                <a:cs typeface="Calibri" pitchFamily="34" charset="-120"/>
              </a:rPr>
              <a:t>REAL-TIME BEHAVIOR</a:t>
            </a:r>
            <a:endParaRPr lang="en-US" sz="1200" dirty="0"/>
          </a:p>
        </p:txBody>
      </p:sp>
      <p:sp>
        <p:nvSpPr>
          <p:cNvPr id="3" name="Text 1"/>
          <p:cNvSpPr txBox="1"/>
          <p:nvPr/>
        </p:nvSpPr>
        <p:spPr>
          <a:xfrm>
            <a:off x="548640" y="713232"/>
            <a:ext cx="10515600" cy="73152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Competitive speed, without freezing the screen</a:t>
            </a:r>
            <a:endParaRPr lang="en-US" sz="3000" dirty="0"/>
          </a:p>
        </p:txBody>
      </p:sp>
      <p:sp>
        <p:nvSpPr>
          <p:cNvPr id="4" name="Text 2"/>
          <p:cNvSpPr txBox="1"/>
          <p:nvPr/>
        </p:nvSpPr>
        <p:spPr>
          <a:xfrm>
            <a:off x="548640" y="1600200"/>
            <a:ext cx="11064240" cy="822960"/>
          </a:xfrm>
          <a:prstGeom prst="rect">
            <a:avLst/>
          </a:prstGeom>
          <a:noFill/>
          <a:ln/>
        </p:spPr>
        <p:txBody>
          <a:bodyPr wrap="square" lIns="0" tIns="0" rIns="0" bIns="0" rtlCol="0" anchor="ctr"/>
          <a:lstStyle/>
          <a:p>
            <a:pPr indent="0" marL="0">
              <a:lnSpc>
                <a:spcPct val="130000"/>
              </a:lnSpc>
              <a:buNone/>
            </a:pPr>
            <a:r>
              <a:rPr lang="en-US" sz="1450" dirty="0">
                <a:solidFill>
                  <a:srgbClr val="475569"/>
                </a:solidFill>
                <a:latin typeface="Calibri" pitchFamily="34" charset="0"/>
                <a:ea typeface="Calibri" pitchFamily="34" charset="-122"/>
                <a:cs typeface="Calibri" pitchFamily="34" charset="-120"/>
              </a:rPr>
              <a:t>The same benchmark other microcontrollers run alone — llama2.c's stories15M, 8-bit quantized — runs here at a comparable rate while also driving a live camera and two NPU vision models at once.</a:t>
            </a:r>
            <a:endParaRPr lang="en-US" sz="1450" dirty="0"/>
          </a:p>
        </p:txBody>
      </p:sp>
      <p:sp>
        <p:nvSpPr>
          <p:cNvPr id="5" name="Shape 3"/>
          <p:cNvSpPr/>
          <p:nvPr/>
        </p:nvSpPr>
        <p:spPr>
          <a:xfrm>
            <a:off x="548640" y="2651760"/>
            <a:ext cx="3520440" cy="1737360"/>
          </a:xfrm>
          <a:prstGeom prst="roundRect">
            <a:avLst>
              <a:gd name="adj" fmla="val 5263"/>
            </a:avLst>
          </a:prstGeom>
          <a:solidFill>
            <a:srgbClr val="F0FDF4"/>
          </a:solidFill>
          <a:ln w="12700">
            <a:solidFill>
              <a:srgbClr val="BBF7D0"/>
            </a:solidFill>
            <a:prstDash val="solid"/>
          </a:ln>
        </p:spPr>
      </p:sp>
      <p:sp>
        <p:nvSpPr>
          <p:cNvPr id="6" name="Text 4"/>
          <p:cNvSpPr txBox="1"/>
          <p:nvPr/>
        </p:nvSpPr>
        <p:spPr>
          <a:xfrm>
            <a:off x="777240" y="2880360"/>
            <a:ext cx="3063240" cy="548640"/>
          </a:xfrm>
          <a:prstGeom prst="rect">
            <a:avLst/>
          </a:prstGeom>
          <a:noFill/>
          <a:ln/>
        </p:spPr>
        <p:txBody>
          <a:bodyPr wrap="square" lIns="0" tIns="0" rIns="0" bIns="0" rtlCol="0" anchor="ctr"/>
          <a:lstStyle/>
          <a:p>
            <a:pPr indent="0" marL="0">
              <a:buNone/>
            </a:pPr>
            <a:r>
              <a:rPr lang="en-US" sz="2600" b="1" dirty="0">
                <a:solidFill>
                  <a:srgbClr val="166534"/>
                </a:solidFill>
                <a:latin typeface="Calibri" pitchFamily="34" charset="0"/>
                <a:ea typeface="Calibri" pitchFamily="34" charset="-122"/>
                <a:cs typeface="Calibri" pitchFamily="34" charset="-120"/>
              </a:rPr>
              <a:t>2.61 tok/s</a:t>
            </a:r>
            <a:endParaRPr lang="en-US" sz="2600" dirty="0"/>
          </a:p>
        </p:txBody>
      </p:sp>
      <p:sp>
        <p:nvSpPr>
          <p:cNvPr id="7" name="Text 5"/>
          <p:cNvSpPr txBox="1"/>
          <p:nvPr/>
        </p:nvSpPr>
        <p:spPr>
          <a:xfrm>
            <a:off x="777240" y="3520440"/>
            <a:ext cx="3063240" cy="73152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story rate, camera and screen running too — on par with single-purpose boards running the same model alone</a:t>
            </a:r>
            <a:endParaRPr lang="en-US" sz="1150" dirty="0"/>
          </a:p>
        </p:txBody>
      </p:sp>
      <p:sp>
        <p:nvSpPr>
          <p:cNvPr id="8" name="Shape 6"/>
          <p:cNvSpPr/>
          <p:nvPr/>
        </p:nvSpPr>
        <p:spPr>
          <a:xfrm>
            <a:off x="4343400" y="2651760"/>
            <a:ext cx="3520440" cy="1737360"/>
          </a:xfrm>
          <a:prstGeom prst="roundRect">
            <a:avLst>
              <a:gd name="adj" fmla="val 5263"/>
            </a:avLst>
          </a:prstGeom>
          <a:solidFill>
            <a:srgbClr val="F0FDF4"/>
          </a:solidFill>
          <a:ln w="12700">
            <a:solidFill>
              <a:srgbClr val="BBF7D0"/>
            </a:solidFill>
            <a:prstDash val="solid"/>
          </a:ln>
        </p:spPr>
      </p:sp>
      <p:sp>
        <p:nvSpPr>
          <p:cNvPr id="9" name="Text 7"/>
          <p:cNvSpPr txBox="1"/>
          <p:nvPr/>
        </p:nvSpPr>
        <p:spPr>
          <a:xfrm>
            <a:off x="4572000" y="2880360"/>
            <a:ext cx="3063240" cy="548640"/>
          </a:xfrm>
          <a:prstGeom prst="rect">
            <a:avLst/>
          </a:prstGeom>
          <a:noFill/>
          <a:ln/>
        </p:spPr>
        <p:txBody>
          <a:bodyPr wrap="square" lIns="0" tIns="0" rIns="0" bIns="0" rtlCol="0" anchor="ctr"/>
          <a:lstStyle/>
          <a:p>
            <a:pPr indent="0" marL="0">
              <a:buNone/>
            </a:pPr>
            <a:r>
              <a:rPr lang="en-US" sz="2600" b="1" dirty="0">
                <a:solidFill>
                  <a:srgbClr val="166534"/>
                </a:solidFill>
                <a:latin typeface="Calibri" pitchFamily="34" charset="0"/>
                <a:ea typeface="Calibri" pitchFamily="34" charset="-122"/>
                <a:cs typeface="Calibri" pitchFamily="34" charset="-120"/>
              </a:rPr>
              <a:t>111 ms</a:t>
            </a:r>
            <a:endParaRPr lang="en-US" sz="2600" dirty="0"/>
          </a:p>
        </p:txBody>
      </p:sp>
      <p:sp>
        <p:nvSpPr>
          <p:cNvPr id="10" name="Text 8"/>
          <p:cNvSpPr txBox="1"/>
          <p:nvPr/>
        </p:nvSpPr>
        <p:spPr>
          <a:xfrm>
            <a:off x="4572000" y="3520440"/>
            <a:ext cx="3063240" cy="73152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CPU time per token spent on the camera and screen, so the display stays live</a:t>
            </a:r>
            <a:endParaRPr lang="en-US" sz="1150" dirty="0"/>
          </a:p>
        </p:txBody>
      </p:sp>
      <p:sp>
        <p:nvSpPr>
          <p:cNvPr id="11" name="Shape 9"/>
          <p:cNvSpPr/>
          <p:nvPr/>
        </p:nvSpPr>
        <p:spPr>
          <a:xfrm>
            <a:off x="8138160" y="2651760"/>
            <a:ext cx="3520440" cy="1737360"/>
          </a:xfrm>
          <a:prstGeom prst="roundRect">
            <a:avLst>
              <a:gd name="adj" fmla="val 5263"/>
            </a:avLst>
          </a:prstGeom>
          <a:solidFill>
            <a:srgbClr val="F0FDF4"/>
          </a:solidFill>
          <a:ln w="12700">
            <a:solidFill>
              <a:srgbClr val="BBF7D0"/>
            </a:solidFill>
            <a:prstDash val="solid"/>
          </a:ln>
        </p:spPr>
      </p:sp>
      <p:sp>
        <p:nvSpPr>
          <p:cNvPr id="12" name="Text 10"/>
          <p:cNvSpPr txBox="1"/>
          <p:nvPr/>
        </p:nvSpPr>
        <p:spPr>
          <a:xfrm>
            <a:off x="8366760" y="2880360"/>
            <a:ext cx="3063240" cy="548640"/>
          </a:xfrm>
          <a:prstGeom prst="rect">
            <a:avLst/>
          </a:prstGeom>
          <a:noFill/>
          <a:ln/>
        </p:spPr>
        <p:txBody>
          <a:bodyPr wrap="square" lIns="0" tIns="0" rIns="0" bIns="0" rtlCol="0" anchor="ctr"/>
          <a:lstStyle/>
          <a:p>
            <a:pPr indent="0" marL="0">
              <a:buNone/>
            </a:pPr>
            <a:r>
              <a:rPr lang="en-US" sz="2600" b="1" dirty="0">
                <a:solidFill>
                  <a:srgbClr val="166534"/>
                </a:solidFill>
                <a:latin typeface="Calibri" pitchFamily="34" charset="0"/>
                <a:ea typeface="Calibri" pitchFamily="34" charset="-122"/>
                <a:cs typeface="Calibri" pitchFamily="34" charset="-120"/>
              </a:rPr>
              <a:t>Never freezes</a:t>
            </a:r>
            <a:endParaRPr lang="en-US" sz="2600" dirty="0"/>
          </a:p>
        </p:txBody>
      </p:sp>
      <p:sp>
        <p:nvSpPr>
          <p:cNvPr id="13" name="Text 11"/>
          <p:cNvSpPr txBox="1"/>
          <p:nvPr/>
        </p:nvSpPr>
        <p:spPr>
          <a:xfrm>
            <a:off x="8366760" y="3520440"/>
            <a:ext cx="3063240" cy="73152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the panel keeps drawing live camera and story text throughout generation</a:t>
            </a:r>
            <a:endParaRPr lang="en-US" sz="1150" dirty="0"/>
          </a:p>
        </p:txBody>
      </p:sp>
      <p:sp>
        <p:nvSpPr>
          <p:cNvPr id="14" name="Text 12"/>
          <p:cNvSpPr txBox="1"/>
          <p:nvPr/>
        </p:nvSpPr>
        <p:spPr>
          <a:xfrm>
            <a:off x="548640" y="4709160"/>
            <a:ext cx="11064240" cy="731520"/>
          </a:xfrm>
          <a:prstGeom prst="rect">
            <a:avLst/>
          </a:prstGeom>
          <a:noFill/>
          <a:ln/>
        </p:spPr>
        <p:txBody>
          <a:bodyPr wrap="square" lIns="0" tIns="0" rIns="0" bIns="0" rtlCol="0" anchor="ctr"/>
          <a:lstStyle/>
          <a:p>
            <a:pPr indent="0" marL="0">
              <a:lnSpc>
                <a:spcPct val="130000"/>
              </a:lnSpc>
              <a:buNone/>
            </a:pPr>
            <a:r>
              <a:rPr lang="en-US" sz="1250" b="1" dirty="0">
                <a:solidFill>
                  <a:srgbClr val="0F172A"/>
                </a:solidFill>
                <a:latin typeface="Calibri" pitchFamily="34" charset="0"/>
                <a:ea typeface="Calibri" pitchFamily="34" charset="-122"/>
                <a:cs typeface="Calibri" pitchFamily="34" charset="-120"/>
              </a:rPr>
              <a:t>For comparison: </a:t>
            </a:r>
            <a:pPr indent="0" marL="0">
              <a:lnSpc>
                <a:spcPct val="130000"/>
              </a:lnSpc>
              <a:buNone/>
            </a:pPr>
            <a:r>
              <a:rPr lang="en-US" sz="1250" dirty="0">
                <a:solidFill>
                  <a:srgbClr val="64748B"/>
                </a:solidFill>
                <a:latin typeface="Calibri" pitchFamily="34" charset="0"/>
                <a:ea typeface="Calibri" pitchFamily="34" charset="-122"/>
                <a:cs typeface="Calibri" pitchFamily="34" charset="-120"/>
              </a:rPr>
              <a:t>published microcontroller runs of the same stories15M model alone — with no camera or vision workload alongside it — report about 2.5 tokens/s on a Cortex-M7 and about 2.96 tokens/s on an ESP32-S3.</a:t>
            </a:r>
            <a:endParaRPr lang="en-US" sz="1250" dirty="0"/>
          </a:p>
        </p:txBody>
      </p:sp>
      <p:sp>
        <p:nvSpPr>
          <p:cNvPr id="15" name="Text 13"/>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 2026 Gnomons</a:t>
            </a:r>
            <a:endParaRPr lang="en-US" sz="900" dirty="0"/>
          </a:p>
        </p:txBody>
      </p:sp>
      <p:sp>
        <p:nvSpPr>
          <p:cNvPr id="16" name="Text 14"/>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150" kern="0" dirty="0">
                <a:solidFill>
                  <a:srgbClr val="15803D"/>
                </a:solidFill>
                <a:latin typeface="Calibri" pitchFamily="34" charset="0"/>
                <a:ea typeface="Calibri" pitchFamily="34" charset="-122"/>
                <a:cs typeface="Calibri" pitchFamily="34" charset="-120"/>
              </a:rPr>
              <a:t>SIGNALING</a:t>
            </a:r>
            <a:endParaRPr lang="en-US" sz="1200" dirty="0"/>
          </a:p>
        </p:txBody>
      </p:sp>
      <p:sp>
        <p:nvSpPr>
          <p:cNvPr id="3" name="Text 1"/>
          <p:cNvSpPr txBox="1"/>
          <p:nvPr/>
        </p:nvSpPr>
        <p:spPr>
          <a:xfrm>
            <a:off x="548640" y="713232"/>
            <a:ext cx="10515600" cy="73152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One event flag, single-writer memory</a:t>
            </a:r>
            <a:endParaRPr lang="en-US" sz="3000" dirty="0"/>
          </a:p>
        </p:txBody>
      </p:sp>
      <p:sp>
        <p:nvSpPr>
          <p:cNvPr id="4" name="Text 2"/>
          <p:cNvSpPr txBox="1"/>
          <p:nvPr/>
        </p:nvSpPr>
        <p:spPr>
          <a:xfrm>
            <a:off x="548640" y="1600200"/>
            <a:ext cx="11064240" cy="822960"/>
          </a:xfrm>
          <a:prstGeom prst="rect">
            <a:avLst/>
          </a:prstGeom>
          <a:noFill/>
          <a:ln/>
        </p:spPr>
        <p:txBody>
          <a:bodyPr wrap="square" lIns="0" tIns="0" rIns="0" bIns="0" rtlCol="0" anchor="ctr"/>
          <a:lstStyle/>
          <a:p>
            <a:pPr indent="0" marL="0">
              <a:lnSpc>
                <a:spcPct val="130000"/>
              </a:lnSpc>
              <a:buNone/>
            </a:pPr>
            <a:r>
              <a:rPr lang="en-US" sz="1450" dirty="0">
                <a:solidFill>
                  <a:srgbClr val="475569"/>
                </a:solidFill>
                <a:latin typeface="Calibri" pitchFamily="34" charset="0"/>
                <a:ea typeface="Calibri" pitchFamily="34" charset="-122"/>
                <a:cs typeface="Calibri" pitchFamily="34" charset="-120"/>
              </a:rPr>
              <a:t>The same four tasks coordinate through a single µT-Kernel event flag plus shared, single-writer memory — a signaling path small enough that its worst-case timing is easy to reason about.</a:t>
            </a:r>
            <a:endParaRPr lang="en-US" sz="1450" dirty="0"/>
          </a:p>
        </p:txBody>
      </p:sp>
      <p:sp>
        <p:nvSpPr>
          <p:cNvPr id="5" name="Shape 3"/>
          <p:cNvSpPr/>
          <p:nvPr/>
        </p:nvSpPr>
        <p:spPr>
          <a:xfrm>
            <a:off x="548640" y="2697480"/>
            <a:ext cx="5349240" cy="2926080"/>
          </a:xfrm>
          <a:prstGeom prst="roundRect">
            <a:avLst>
              <a:gd name="adj" fmla="val 3125"/>
            </a:avLst>
          </a:prstGeom>
          <a:solidFill>
            <a:srgbClr val="FFFFFF"/>
          </a:solidFill>
          <a:ln w="12700">
            <a:solidFill>
              <a:srgbClr val="E2E8F0"/>
            </a:solidFill>
            <a:prstDash val="solid"/>
          </a:ln>
          <a:effectLst>
            <a:outerShdw sx="100000" sy="100000" kx="0" ky="0" algn="bl" rotWithShape="0" blurRad="101600" dist="38100" dir="5400000">
              <a:srgbClr val="0F172A">
                <a:alpha val="12000"/>
              </a:srgbClr>
            </a:outerShdw>
          </a:effectLst>
        </p:spPr>
      </p:sp>
      <p:sp>
        <p:nvSpPr>
          <p:cNvPr id="6" name="Text 4"/>
          <p:cNvSpPr txBox="1"/>
          <p:nvPr/>
        </p:nvSpPr>
        <p:spPr>
          <a:xfrm>
            <a:off x="822960" y="2971800"/>
            <a:ext cx="4800600" cy="731520"/>
          </a:xfrm>
          <a:prstGeom prst="rect">
            <a:avLst/>
          </a:prstGeom>
          <a:noFill/>
          <a:ln/>
        </p:spPr>
        <p:txBody>
          <a:bodyPr wrap="square" lIns="0" tIns="0" rIns="0" bIns="0" rtlCol="0" anchor="ctr"/>
          <a:lstStyle/>
          <a:p>
            <a:pPr indent="0" marL="0">
              <a:lnSpc>
                <a:spcPct val="120000"/>
              </a:lnSpc>
              <a:buNone/>
            </a:pPr>
            <a:r>
              <a:rPr lang="en-US" sz="1700" b="1" dirty="0">
                <a:solidFill>
                  <a:srgbClr val="0F172A"/>
                </a:solidFill>
                <a:latin typeface="Calibri" pitchFamily="34" charset="0"/>
                <a:ea typeface="Calibri" pitchFamily="34" charset="-122"/>
                <a:cs typeface="Calibri" pitchFamily="34" charset="-120"/>
              </a:rPr>
              <a:t>The event flag carries signals, not data</a:t>
            </a:r>
            <a:endParaRPr lang="en-US" sz="1700" dirty="0"/>
          </a:p>
        </p:txBody>
      </p:sp>
      <p:sp>
        <p:nvSpPr>
          <p:cNvPr id="7" name="Text 5"/>
          <p:cNvSpPr txBox="1"/>
          <p:nvPr/>
        </p:nvSpPr>
        <p:spPr>
          <a:xfrm>
            <a:off x="822960" y="3749040"/>
            <a:ext cx="4800600" cy="1097280"/>
          </a:xfrm>
          <a:prstGeom prst="rect">
            <a:avLst/>
          </a:prstGeom>
          <a:noFill/>
          <a:ln/>
        </p:spPr>
        <p:txBody>
          <a:bodyPr wrap="square" lIns="0" tIns="0" rIns="0" bIns="0" rtlCol="0" anchor="ctr"/>
          <a:lstStyle/>
          <a:p>
            <a:pPr indent="0" marL="0">
              <a:lnSpc>
                <a:spcPct val="130000"/>
              </a:lnSpc>
              <a:buNone/>
            </a:pPr>
            <a:r>
              <a:rPr lang="en-US" sz="1300" dirty="0">
                <a:solidFill>
                  <a:srgbClr val="475569"/>
                </a:solidFill>
                <a:latin typeface="Calibri" pitchFamily="34" charset="0"/>
                <a:ea typeface="Calibri" pitchFamily="34" charset="-122"/>
                <a:cs typeface="Calibri" pitchFamily="34" charset="-120"/>
              </a:rPr>
              <a:t>Only ready and done bits pass through it. An interrupt sets its bits directly, with nothing in between that could overflow.</a:t>
            </a:r>
            <a:endParaRPr lang="en-US" sz="1300" dirty="0"/>
          </a:p>
        </p:txBody>
      </p:sp>
      <p:sp>
        <p:nvSpPr>
          <p:cNvPr id="8" name="Text 6"/>
          <p:cNvSpPr txBox="1"/>
          <p:nvPr/>
        </p:nvSpPr>
        <p:spPr>
          <a:xfrm>
            <a:off x="822960" y="5120640"/>
            <a:ext cx="4800600" cy="32004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tk_set_flg / tk_wai_flg · interrupt-safe</a:t>
            </a:r>
            <a:endParaRPr lang="en-US" sz="1050" dirty="0"/>
          </a:p>
        </p:txBody>
      </p:sp>
      <p:sp>
        <p:nvSpPr>
          <p:cNvPr id="9" name="Shape 7"/>
          <p:cNvSpPr/>
          <p:nvPr/>
        </p:nvSpPr>
        <p:spPr>
          <a:xfrm>
            <a:off x="6263640" y="2697480"/>
            <a:ext cx="5349240" cy="2926080"/>
          </a:xfrm>
          <a:prstGeom prst="roundRect">
            <a:avLst>
              <a:gd name="adj" fmla="val 3125"/>
            </a:avLst>
          </a:prstGeom>
          <a:solidFill>
            <a:srgbClr val="FFFFFF"/>
          </a:solidFill>
          <a:ln w="12700">
            <a:solidFill>
              <a:srgbClr val="E2E8F0"/>
            </a:solidFill>
            <a:prstDash val="solid"/>
          </a:ln>
          <a:effectLst>
            <a:outerShdw sx="100000" sy="100000" kx="0" ky="0" algn="bl" rotWithShape="0" blurRad="101600" dist="38100" dir="5400000">
              <a:srgbClr val="0F172A">
                <a:alpha val="12000"/>
              </a:srgbClr>
            </a:outerShdw>
          </a:effectLst>
        </p:spPr>
      </p:sp>
      <p:sp>
        <p:nvSpPr>
          <p:cNvPr id="10" name="Text 8"/>
          <p:cNvSpPr txBox="1"/>
          <p:nvPr/>
        </p:nvSpPr>
        <p:spPr>
          <a:xfrm>
            <a:off x="6537960" y="2971800"/>
            <a:ext cx="4800600" cy="731520"/>
          </a:xfrm>
          <a:prstGeom prst="rect">
            <a:avLst/>
          </a:prstGeom>
          <a:noFill/>
          <a:ln/>
        </p:spPr>
        <p:txBody>
          <a:bodyPr wrap="square" lIns="0" tIns="0" rIns="0" bIns="0" rtlCol="0" anchor="ctr"/>
          <a:lstStyle/>
          <a:p>
            <a:pPr indent="0" marL="0">
              <a:lnSpc>
                <a:spcPct val="120000"/>
              </a:lnSpc>
              <a:buNone/>
            </a:pPr>
            <a:r>
              <a:rPr lang="en-US" sz="1700" b="1" dirty="0">
                <a:solidFill>
                  <a:srgbClr val="0F172A"/>
                </a:solidFill>
                <a:latin typeface="Calibri" pitchFamily="34" charset="0"/>
                <a:ea typeface="Calibri" pitchFamily="34" charset="-122"/>
                <a:cs typeface="Calibri" pitchFamily="34" charset="-120"/>
              </a:rPr>
              <a:t>Data travels in single-writer structures</a:t>
            </a:r>
            <a:endParaRPr lang="en-US" sz="1700" dirty="0"/>
          </a:p>
        </p:txBody>
      </p:sp>
      <p:sp>
        <p:nvSpPr>
          <p:cNvPr id="11" name="Text 9"/>
          <p:cNvSpPr txBox="1"/>
          <p:nvPr/>
        </p:nvSpPr>
        <p:spPr>
          <a:xfrm>
            <a:off x="6537960" y="3749040"/>
            <a:ext cx="4800600" cy="1280160"/>
          </a:xfrm>
          <a:prstGeom prst="rect">
            <a:avLst/>
          </a:prstGeom>
          <a:noFill/>
          <a:ln/>
        </p:spPr>
        <p:txBody>
          <a:bodyPr wrap="square" lIns="0" tIns="0" rIns="0" bIns="0" rtlCol="0" anchor="ctr"/>
          <a:lstStyle/>
          <a:p>
            <a:pPr indent="0" marL="0">
              <a:lnSpc>
                <a:spcPct val="130000"/>
              </a:lnSpc>
              <a:buNone/>
            </a:pPr>
            <a:r>
              <a:rPr lang="en-US" sz="1300" dirty="0">
                <a:solidFill>
                  <a:srgbClr val="475569"/>
                </a:solidFill>
                <a:latin typeface="Calibri" pitchFamily="34" charset="0"/>
                <a:ea typeface="Calibri" pitchFamily="34" charset="-122"/>
                <a:cs typeface="Calibri" pitchFamily="34" charset="-120"/>
              </a:rPr>
              <a:t>Processed images, joint positions, gesture results, and story text each live in a structure written by exactly one task, so no two tasks race over the same memory.</a:t>
            </a:r>
            <a:endParaRPr lang="en-US" sz="1300" dirty="0"/>
          </a:p>
        </p:txBody>
      </p:sp>
      <p:sp>
        <p:nvSpPr>
          <p:cNvPr id="12" name="Text 10"/>
          <p:cNvSpPr txBox="1"/>
          <p:nvPr/>
        </p:nvSpPr>
        <p:spPr>
          <a:xfrm>
            <a:off x="6537960" y="5120640"/>
            <a:ext cx="4800600" cy="32004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shared memory · one writer per structure</a:t>
            </a:r>
            <a:endParaRPr lang="en-US" sz="1050" dirty="0"/>
          </a:p>
        </p:txBody>
      </p:sp>
      <p:sp>
        <p:nvSpPr>
          <p:cNvPr id="13" name="Text 11"/>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 2026 Gnomons</a:t>
            </a:r>
            <a:endParaRPr lang="en-US" sz="900" dirty="0"/>
          </a:p>
        </p:txBody>
      </p:sp>
      <p:sp>
        <p:nvSpPr>
          <p:cNvPr id="14" name="Text 12"/>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150" kern="0" dirty="0">
                <a:solidFill>
                  <a:srgbClr val="15803D"/>
                </a:solidFill>
                <a:latin typeface="Calibri" pitchFamily="34" charset="0"/>
                <a:ea typeface="Calibri" pitchFamily="34" charset="-122"/>
                <a:cs typeface="Calibri" pitchFamily="34" charset="-120"/>
              </a:rPr>
              <a:t>INTERACTION</a:t>
            </a:r>
            <a:endParaRPr lang="en-US" sz="1200" dirty="0"/>
          </a:p>
        </p:txBody>
      </p:sp>
      <p:sp>
        <p:nvSpPr>
          <p:cNvPr id="3" name="Text 1"/>
          <p:cNvSpPr txBox="1"/>
          <p:nvPr/>
        </p:nvSpPr>
        <p:spPr>
          <a:xfrm>
            <a:off x="548640" y="713232"/>
            <a:ext cx="10515600" cy="73152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Five gestures, one shared vocabulary</a:t>
            </a:r>
            <a:endParaRPr lang="en-US" sz="3000" dirty="0"/>
          </a:p>
        </p:txBody>
      </p:sp>
      <p:sp>
        <p:nvSpPr>
          <p:cNvPr id="4" name="Text 2"/>
          <p:cNvSpPr txBox="1"/>
          <p:nvPr/>
        </p:nvSpPr>
        <p:spPr>
          <a:xfrm>
            <a:off x="548640" y="1600200"/>
            <a:ext cx="11064240" cy="822960"/>
          </a:xfrm>
          <a:prstGeom prst="rect">
            <a:avLst/>
          </a:prstGeom>
          <a:noFill/>
          <a:ln/>
        </p:spPr>
        <p:txBody>
          <a:bodyPr wrap="square" lIns="0" tIns="0" rIns="0" bIns="0" rtlCol="0" anchor="ctr"/>
          <a:lstStyle/>
          <a:p>
            <a:pPr indent="0" marL="0">
              <a:lnSpc>
                <a:spcPct val="130000"/>
              </a:lnSpc>
              <a:buNone/>
            </a:pPr>
            <a:r>
              <a:rPr lang="en-US" sz="1450" dirty="0">
                <a:solidFill>
                  <a:srgbClr val="475569"/>
                </a:solidFill>
                <a:latin typeface="Calibri" pitchFamily="34" charset="0"/>
                <a:ea typeface="Calibri" pitchFamily="34" charset="-122"/>
                <a:cs typeface="Calibri" pitchFamily="34" charset="-120"/>
              </a:rPr>
              <a:t>21 joint positions become one of five named gestures through geometry ratio tests on the Cortex-M85 — no embedding model, no network call, just distances and ratios computed on-device.</a:t>
            </a:r>
            <a:endParaRPr lang="en-US" sz="1450" dirty="0"/>
          </a:p>
        </p:txBody>
      </p:sp>
      <p:sp>
        <p:nvSpPr>
          <p:cNvPr id="5" name="Shape 3"/>
          <p:cNvSpPr/>
          <p:nvPr/>
        </p:nvSpPr>
        <p:spPr>
          <a:xfrm>
            <a:off x="548640" y="2834640"/>
            <a:ext cx="2011680" cy="2377440"/>
          </a:xfrm>
          <a:prstGeom prst="roundRect">
            <a:avLst>
              <a:gd name="adj" fmla="val 5455"/>
            </a:avLst>
          </a:prstGeom>
          <a:solidFill>
            <a:srgbClr val="F0FDF4"/>
          </a:solidFill>
          <a:ln w="12700">
            <a:solidFill>
              <a:srgbClr val="BBF7D0"/>
            </a:solidFill>
            <a:prstDash val="solid"/>
          </a:ln>
        </p:spPr>
      </p:sp>
      <p:sp>
        <p:nvSpPr>
          <p:cNvPr id="6" name="Text 4"/>
          <p:cNvSpPr txBox="1"/>
          <p:nvPr/>
        </p:nvSpPr>
        <p:spPr>
          <a:xfrm>
            <a:off x="548640" y="3063240"/>
            <a:ext cx="2011680" cy="1005840"/>
          </a:xfrm>
          <a:prstGeom prst="rect">
            <a:avLst/>
          </a:prstGeom>
          <a:noFill/>
          <a:ln/>
        </p:spPr>
        <p:txBody>
          <a:bodyPr wrap="square" lIns="0" tIns="0" rIns="0" bIns="0" rtlCol="0" anchor="ctr"/>
          <a:lstStyle/>
          <a:p>
            <a:pPr algn="ctr" indent="0" marL="0">
              <a:buNone/>
            </a:pPr>
            <a:r>
              <a:rPr lang="en-US" sz="4400" dirty="0">
                <a:solidFill>
                  <a:srgbClr val="000000"/>
                </a:solidFill>
                <a:latin typeface="Arial" pitchFamily="34" charset="0"/>
                <a:ea typeface="Arial" pitchFamily="34" charset="-122"/>
                <a:cs typeface="Arial" pitchFamily="34" charset="-120"/>
              </a:rPr>
              <a:t>✋</a:t>
            </a:r>
            <a:endParaRPr lang="en-US" sz="4400" dirty="0"/>
          </a:p>
        </p:txBody>
      </p:sp>
      <p:sp>
        <p:nvSpPr>
          <p:cNvPr id="7" name="Text 5"/>
          <p:cNvSpPr txBox="1"/>
          <p:nvPr/>
        </p:nvSpPr>
        <p:spPr>
          <a:xfrm>
            <a:off x="640080" y="4206240"/>
            <a:ext cx="1828800" cy="365760"/>
          </a:xfrm>
          <a:prstGeom prst="rect">
            <a:avLst/>
          </a:prstGeom>
          <a:noFill/>
          <a:ln/>
        </p:spPr>
        <p:txBody>
          <a:bodyPr wrap="square" lIns="0" tIns="0" rIns="0" bIns="0" rtlCol="0" anchor="ctr"/>
          <a:lstStyle/>
          <a:p>
            <a:pPr algn="ctr" indent="0" marL="0">
              <a:buNone/>
            </a:pPr>
            <a:r>
              <a:rPr lang="en-US" sz="1300" b="1" dirty="0">
                <a:solidFill>
                  <a:srgbClr val="166534"/>
                </a:solidFill>
                <a:latin typeface="Calibri" pitchFamily="34" charset="0"/>
                <a:ea typeface="Calibri" pitchFamily="34" charset="-122"/>
                <a:cs typeface="Calibri" pitchFamily="34" charset="-120"/>
              </a:rPr>
              <a:t>Open Palm</a:t>
            </a:r>
            <a:endParaRPr lang="en-US" sz="1300" dirty="0"/>
          </a:p>
        </p:txBody>
      </p:sp>
      <p:sp>
        <p:nvSpPr>
          <p:cNvPr id="8" name="Text 6"/>
          <p:cNvSpPr txBox="1"/>
          <p:nvPr/>
        </p:nvSpPr>
        <p:spPr>
          <a:xfrm>
            <a:off x="640080" y="4617720"/>
            <a:ext cx="1828800" cy="502920"/>
          </a:xfrm>
          <a:prstGeom prst="rect">
            <a:avLst/>
          </a:prstGeom>
          <a:noFill/>
          <a:ln/>
        </p:spPr>
        <p:txBody>
          <a:bodyPr wrap="square" lIns="0" tIns="0" rIns="0" bIns="0"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start / yes</a:t>
            </a:r>
            <a:endParaRPr lang="en-US" sz="1050" dirty="0"/>
          </a:p>
        </p:txBody>
      </p:sp>
      <p:sp>
        <p:nvSpPr>
          <p:cNvPr id="9" name="Shape 7"/>
          <p:cNvSpPr/>
          <p:nvPr/>
        </p:nvSpPr>
        <p:spPr>
          <a:xfrm>
            <a:off x="2816352" y="2834640"/>
            <a:ext cx="2011680" cy="2377440"/>
          </a:xfrm>
          <a:prstGeom prst="roundRect">
            <a:avLst>
              <a:gd name="adj" fmla="val 5455"/>
            </a:avLst>
          </a:prstGeom>
          <a:solidFill>
            <a:srgbClr val="F0FDF4"/>
          </a:solidFill>
          <a:ln w="12700">
            <a:solidFill>
              <a:srgbClr val="BBF7D0"/>
            </a:solidFill>
            <a:prstDash val="solid"/>
          </a:ln>
        </p:spPr>
      </p:sp>
      <p:sp>
        <p:nvSpPr>
          <p:cNvPr id="10" name="Text 8"/>
          <p:cNvSpPr txBox="1"/>
          <p:nvPr/>
        </p:nvSpPr>
        <p:spPr>
          <a:xfrm>
            <a:off x="2816352" y="3063240"/>
            <a:ext cx="2011680" cy="1005840"/>
          </a:xfrm>
          <a:prstGeom prst="rect">
            <a:avLst/>
          </a:prstGeom>
          <a:noFill/>
          <a:ln/>
        </p:spPr>
        <p:txBody>
          <a:bodyPr wrap="square" lIns="0" tIns="0" rIns="0" bIns="0" rtlCol="0" anchor="ctr"/>
          <a:lstStyle/>
          <a:p>
            <a:pPr algn="ctr" indent="0" marL="0">
              <a:buNone/>
            </a:pPr>
            <a:r>
              <a:rPr lang="en-US" sz="4400" dirty="0">
                <a:solidFill>
                  <a:srgbClr val="000000"/>
                </a:solidFill>
                <a:latin typeface="Arial" pitchFamily="34" charset="0"/>
                <a:ea typeface="Arial" pitchFamily="34" charset="-122"/>
                <a:cs typeface="Arial" pitchFamily="34" charset="-120"/>
              </a:rPr>
              <a:t>✊</a:t>
            </a:r>
            <a:endParaRPr lang="en-US" sz="4400" dirty="0"/>
          </a:p>
        </p:txBody>
      </p:sp>
      <p:sp>
        <p:nvSpPr>
          <p:cNvPr id="11" name="Text 9"/>
          <p:cNvSpPr txBox="1"/>
          <p:nvPr/>
        </p:nvSpPr>
        <p:spPr>
          <a:xfrm>
            <a:off x="2907792" y="4206240"/>
            <a:ext cx="1828800" cy="365760"/>
          </a:xfrm>
          <a:prstGeom prst="rect">
            <a:avLst/>
          </a:prstGeom>
          <a:noFill/>
          <a:ln/>
        </p:spPr>
        <p:txBody>
          <a:bodyPr wrap="square" lIns="0" tIns="0" rIns="0" bIns="0" rtlCol="0" anchor="ctr"/>
          <a:lstStyle/>
          <a:p>
            <a:pPr algn="ctr" indent="0" marL="0">
              <a:buNone/>
            </a:pPr>
            <a:r>
              <a:rPr lang="en-US" sz="1300" b="1" dirty="0">
                <a:solidFill>
                  <a:srgbClr val="166534"/>
                </a:solidFill>
                <a:latin typeface="Calibri" pitchFamily="34" charset="0"/>
                <a:ea typeface="Calibri" pitchFamily="34" charset="-122"/>
                <a:cs typeface="Calibri" pitchFamily="34" charset="-120"/>
              </a:rPr>
              <a:t>Fist</a:t>
            </a:r>
            <a:endParaRPr lang="en-US" sz="1300" dirty="0"/>
          </a:p>
        </p:txBody>
      </p:sp>
      <p:sp>
        <p:nvSpPr>
          <p:cNvPr id="12" name="Text 10"/>
          <p:cNvSpPr txBox="1"/>
          <p:nvPr/>
        </p:nvSpPr>
        <p:spPr>
          <a:xfrm>
            <a:off x="2907792" y="4617720"/>
            <a:ext cx="1828800" cy="502920"/>
          </a:xfrm>
          <a:prstGeom prst="rect">
            <a:avLst/>
          </a:prstGeom>
          <a:noFill/>
          <a:ln/>
        </p:spPr>
        <p:txBody>
          <a:bodyPr wrap="square" lIns="0" tIns="0" rIns="0" bIns="0"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goodbye / no</a:t>
            </a:r>
            <a:endParaRPr lang="en-US" sz="1050" dirty="0"/>
          </a:p>
        </p:txBody>
      </p:sp>
      <p:sp>
        <p:nvSpPr>
          <p:cNvPr id="13" name="Shape 11"/>
          <p:cNvSpPr/>
          <p:nvPr/>
        </p:nvSpPr>
        <p:spPr>
          <a:xfrm>
            <a:off x="5084064" y="2834640"/>
            <a:ext cx="2011680" cy="2377440"/>
          </a:xfrm>
          <a:prstGeom prst="roundRect">
            <a:avLst>
              <a:gd name="adj" fmla="val 5455"/>
            </a:avLst>
          </a:prstGeom>
          <a:solidFill>
            <a:srgbClr val="F0FDF4"/>
          </a:solidFill>
          <a:ln w="12700">
            <a:solidFill>
              <a:srgbClr val="BBF7D0"/>
            </a:solidFill>
            <a:prstDash val="solid"/>
          </a:ln>
        </p:spPr>
      </p:sp>
      <p:sp>
        <p:nvSpPr>
          <p:cNvPr id="14" name="Text 12"/>
          <p:cNvSpPr txBox="1"/>
          <p:nvPr/>
        </p:nvSpPr>
        <p:spPr>
          <a:xfrm>
            <a:off x="5084064" y="3063240"/>
            <a:ext cx="2011680" cy="1005840"/>
          </a:xfrm>
          <a:prstGeom prst="rect">
            <a:avLst/>
          </a:prstGeom>
          <a:noFill/>
          <a:ln/>
        </p:spPr>
        <p:txBody>
          <a:bodyPr wrap="square" lIns="0" tIns="0" rIns="0" bIns="0" rtlCol="0" anchor="ctr"/>
          <a:lstStyle/>
          <a:p>
            <a:pPr algn="ctr" indent="0" marL="0">
              <a:buNone/>
            </a:pPr>
            <a:r>
              <a:rPr lang="en-US" sz="4400" dirty="0">
                <a:solidFill>
                  <a:srgbClr val="000000"/>
                </a:solidFill>
                <a:latin typeface="Arial" pitchFamily="34" charset="0"/>
                <a:ea typeface="Arial" pitchFamily="34" charset="-122"/>
                <a:cs typeface="Arial" pitchFamily="34" charset="-120"/>
              </a:rPr>
              <a:t>✌️</a:t>
            </a:r>
            <a:endParaRPr lang="en-US" sz="4400" dirty="0"/>
          </a:p>
        </p:txBody>
      </p:sp>
      <p:sp>
        <p:nvSpPr>
          <p:cNvPr id="15" name="Text 13"/>
          <p:cNvSpPr txBox="1"/>
          <p:nvPr/>
        </p:nvSpPr>
        <p:spPr>
          <a:xfrm>
            <a:off x="5175504" y="4206240"/>
            <a:ext cx="1828800" cy="365760"/>
          </a:xfrm>
          <a:prstGeom prst="rect">
            <a:avLst/>
          </a:prstGeom>
          <a:noFill/>
          <a:ln/>
        </p:spPr>
        <p:txBody>
          <a:bodyPr wrap="square" lIns="0" tIns="0" rIns="0" bIns="0" rtlCol="0" anchor="ctr"/>
          <a:lstStyle/>
          <a:p>
            <a:pPr algn="ctr" indent="0" marL="0">
              <a:buNone/>
            </a:pPr>
            <a:r>
              <a:rPr lang="en-US" sz="1300" b="1" dirty="0">
                <a:solidFill>
                  <a:srgbClr val="166534"/>
                </a:solidFill>
                <a:latin typeface="Calibri" pitchFamily="34" charset="0"/>
                <a:ea typeface="Calibri" pitchFamily="34" charset="-122"/>
                <a:cs typeface="Calibri" pitchFamily="34" charset="-120"/>
              </a:rPr>
              <a:t>Victory</a:t>
            </a:r>
            <a:endParaRPr lang="en-US" sz="1300" dirty="0"/>
          </a:p>
        </p:txBody>
      </p:sp>
      <p:sp>
        <p:nvSpPr>
          <p:cNvPr id="16" name="Text 14"/>
          <p:cNvSpPr txBox="1"/>
          <p:nvPr/>
        </p:nvSpPr>
        <p:spPr>
          <a:xfrm>
            <a:off x="5175504" y="4617720"/>
            <a:ext cx="1828800" cy="502920"/>
          </a:xfrm>
          <a:prstGeom prst="rect">
            <a:avLst/>
          </a:prstGeom>
          <a:noFill/>
          <a:ln/>
        </p:spPr>
        <p:txBody>
          <a:bodyPr wrap="square" lIns="0" tIns="0" rIns="0" bIns="0"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game play</a:t>
            </a:r>
            <a:endParaRPr lang="en-US" sz="1050" dirty="0"/>
          </a:p>
        </p:txBody>
      </p:sp>
      <p:sp>
        <p:nvSpPr>
          <p:cNvPr id="17" name="Shape 15"/>
          <p:cNvSpPr/>
          <p:nvPr/>
        </p:nvSpPr>
        <p:spPr>
          <a:xfrm>
            <a:off x="7351776" y="2834640"/>
            <a:ext cx="2011680" cy="2377440"/>
          </a:xfrm>
          <a:prstGeom prst="roundRect">
            <a:avLst>
              <a:gd name="adj" fmla="val 5455"/>
            </a:avLst>
          </a:prstGeom>
          <a:solidFill>
            <a:srgbClr val="F0FDF4"/>
          </a:solidFill>
          <a:ln w="12700">
            <a:solidFill>
              <a:srgbClr val="BBF7D0"/>
            </a:solidFill>
            <a:prstDash val="solid"/>
          </a:ln>
        </p:spPr>
      </p:sp>
      <p:sp>
        <p:nvSpPr>
          <p:cNvPr id="18" name="Text 16"/>
          <p:cNvSpPr txBox="1"/>
          <p:nvPr/>
        </p:nvSpPr>
        <p:spPr>
          <a:xfrm>
            <a:off x="7351776" y="3063240"/>
            <a:ext cx="2011680" cy="1005840"/>
          </a:xfrm>
          <a:prstGeom prst="rect">
            <a:avLst/>
          </a:prstGeom>
          <a:noFill/>
          <a:ln/>
        </p:spPr>
        <p:txBody>
          <a:bodyPr wrap="square" lIns="0" tIns="0" rIns="0" bIns="0" rtlCol="0" anchor="ctr"/>
          <a:lstStyle/>
          <a:p>
            <a:pPr algn="ctr" indent="0" marL="0">
              <a:buNone/>
            </a:pPr>
            <a:r>
              <a:rPr lang="en-US" sz="4400" dirty="0">
                <a:solidFill>
                  <a:srgbClr val="000000"/>
                </a:solidFill>
                <a:latin typeface="Arial" pitchFamily="34" charset="0"/>
                <a:ea typeface="Arial" pitchFamily="34" charset="-122"/>
                <a:cs typeface="Arial" pitchFamily="34" charset="-120"/>
              </a:rPr>
              <a:t>👍</a:t>
            </a:r>
            <a:endParaRPr lang="en-US" sz="4400" dirty="0"/>
          </a:p>
        </p:txBody>
      </p:sp>
      <p:sp>
        <p:nvSpPr>
          <p:cNvPr id="19" name="Text 17"/>
          <p:cNvSpPr txBox="1"/>
          <p:nvPr/>
        </p:nvSpPr>
        <p:spPr>
          <a:xfrm>
            <a:off x="7443216" y="4206240"/>
            <a:ext cx="1828800" cy="365760"/>
          </a:xfrm>
          <a:prstGeom prst="rect">
            <a:avLst/>
          </a:prstGeom>
          <a:noFill/>
          <a:ln/>
        </p:spPr>
        <p:txBody>
          <a:bodyPr wrap="square" lIns="0" tIns="0" rIns="0" bIns="0" rtlCol="0" anchor="ctr"/>
          <a:lstStyle/>
          <a:p>
            <a:pPr algn="ctr" indent="0" marL="0">
              <a:buNone/>
            </a:pPr>
            <a:r>
              <a:rPr lang="en-US" sz="1300" b="1" dirty="0">
                <a:solidFill>
                  <a:srgbClr val="166534"/>
                </a:solidFill>
                <a:latin typeface="Calibri" pitchFamily="34" charset="0"/>
                <a:ea typeface="Calibri" pitchFamily="34" charset="-122"/>
                <a:cs typeface="Calibri" pitchFamily="34" charset="-120"/>
              </a:rPr>
              <a:t>Thumbs Up</a:t>
            </a:r>
            <a:endParaRPr lang="en-US" sz="1300" dirty="0"/>
          </a:p>
        </p:txBody>
      </p:sp>
      <p:sp>
        <p:nvSpPr>
          <p:cNvPr id="20" name="Text 18"/>
          <p:cNvSpPr txBox="1"/>
          <p:nvPr/>
        </p:nvSpPr>
        <p:spPr>
          <a:xfrm>
            <a:off x="7443216" y="4617720"/>
            <a:ext cx="1828800" cy="502920"/>
          </a:xfrm>
          <a:prstGeom prst="rect">
            <a:avLst/>
          </a:prstGeom>
          <a:noFill/>
          <a:ln/>
        </p:spPr>
        <p:txBody>
          <a:bodyPr wrap="square" lIns="0" tIns="0" rIns="0" bIns="0"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yes</a:t>
            </a:r>
            <a:endParaRPr lang="en-US" sz="1050" dirty="0"/>
          </a:p>
        </p:txBody>
      </p:sp>
      <p:sp>
        <p:nvSpPr>
          <p:cNvPr id="21" name="Shape 19"/>
          <p:cNvSpPr/>
          <p:nvPr/>
        </p:nvSpPr>
        <p:spPr>
          <a:xfrm>
            <a:off x="9619488" y="2834640"/>
            <a:ext cx="2011680" cy="2377440"/>
          </a:xfrm>
          <a:prstGeom prst="roundRect">
            <a:avLst>
              <a:gd name="adj" fmla="val 5455"/>
            </a:avLst>
          </a:prstGeom>
          <a:solidFill>
            <a:srgbClr val="F0FDF4"/>
          </a:solidFill>
          <a:ln w="12700">
            <a:solidFill>
              <a:srgbClr val="BBF7D0"/>
            </a:solidFill>
            <a:prstDash val="solid"/>
          </a:ln>
        </p:spPr>
      </p:sp>
      <p:sp>
        <p:nvSpPr>
          <p:cNvPr id="22" name="Text 20"/>
          <p:cNvSpPr txBox="1"/>
          <p:nvPr/>
        </p:nvSpPr>
        <p:spPr>
          <a:xfrm>
            <a:off x="9619488" y="3063240"/>
            <a:ext cx="2011680" cy="1005840"/>
          </a:xfrm>
          <a:prstGeom prst="rect">
            <a:avLst/>
          </a:prstGeom>
          <a:noFill/>
          <a:ln/>
        </p:spPr>
        <p:txBody>
          <a:bodyPr wrap="square" lIns="0" tIns="0" rIns="0" bIns="0" rtlCol="0" anchor="ctr"/>
          <a:lstStyle/>
          <a:p>
            <a:pPr algn="ctr" indent="0" marL="0">
              <a:buNone/>
            </a:pPr>
            <a:r>
              <a:rPr lang="en-US" sz="4400" dirty="0">
                <a:solidFill>
                  <a:srgbClr val="000000"/>
                </a:solidFill>
                <a:latin typeface="Arial" pitchFamily="34" charset="0"/>
                <a:ea typeface="Arial" pitchFamily="34" charset="-122"/>
                <a:cs typeface="Arial" pitchFamily="34" charset="-120"/>
              </a:rPr>
              <a:t>👎</a:t>
            </a:r>
            <a:endParaRPr lang="en-US" sz="4400" dirty="0"/>
          </a:p>
        </p:txBody>
      </p:sp>
      <p:sp>
        <p:nvSpPr>
          <p:cNvPr id="23" name="Text 21"/>
          <p:cNvSpPr txBox="1"/>
          <p:nvPr/>
        </p:nvSpPr>
        <p:spPr>
          <a:xfrm>
            <a:off x="9710928" y="4206240"/>
            <a:ext cx="1828800" cy="365760"/>
          </a:xfrm>
          <a:prstGeom prst="rect">
            <a:avLst/>
          </a:prstGeom>
          <a:noFill/>
          <a:ln/>
        </p:spPr>
        <p:txBody>
          <a:bodyPr wrap="square" lIns="0" tIns="0" rIns="0" bIns="0" rtlCol="0" anchor="ctr"/>
          <a:lstStyle/>
          <a:p>
            <a:pPr algn="ctr" indent="0" marL="0">
              <a:buNone/>
            </a:pPr>
            <a:r>
              <a:rPr lang="en-US" sz="1300" b="1" dirty="0">
                <a:solidFill>
                  <a:srgbClr val="166534"/>
                </a:solidFill>
                <a:latin typeface="Calibri" pitchFamily="34" charset="0"/>
                <a:ea typeface="Calibri" pitchFamily="34" charset="-122"/>
                <a:cs typeface="Calibri" pitchFamily="34" charset="-120"/>
              </a:rPr>
              <a:t>Thumbs Down</a:t>
            </a:r>
            <a:endParaRPr lang="en-US" sz="1300" dirty="0"/>
          </a:p>
        </p:txBody>
      </p:sp>
      <p:sp>
        <p:nvSpPr>
          <p:cNvPr id="24" name="Text 22"/>
          <p:cNvSpPr txBox="1"/>
          <p:nvPr/>
        </p:nvSpPr>
        <p:spPr>
          <a:xfrm>
            <a:off x="9710928" y="4617720"/>
            <a:ext cx="1828800" cy="502920"/>
          </a:xfrm>
          <a:prstGeom prst="rect">
            <a:avLst/>
          </a:prstGeom>
          <a:noFill/>
          <a:ln/>
        </p:spPr>
        <p:txBody>
          <a:bodyPr wrap="square" lIns="0" tIns="0" rIns="0" bIns="0"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no</a:t>
            </a:r>
            <a:endParaRPr lang="en-US" sz="1050" dirty="0"/>
          </a:p>
        </p:txBody>
      </p:sp>
      <p:sp>
        <p:nvSpPr>
          <p:cNvPr id="25" name="Text 23"/>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 2026 Gnomons</a:t>
            </a:r>
            <a:endParaRPr lang="en-US" sz="900" dirty="0"/>
          </a:p>
        </p:txBody>
      </p:sp>
      <p:sp>
        <p:nvSpPr>
          <p:cNvPr id="26" name="Text 24"/>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150" kern="0" dirty="0">
                <a:solidFill>
                  <a:srgbClr val="15803D"/>
                </a:solidFill>
                <a:latin typeface="Calibri" pitchFamily="34" charset="0"/>
                <a:ea typeface="Calibri" pitchFamily="34" charset="-122"/>
                <a:cs typeface="Calibri" pitchFamily="34" charset="-120"/>
              </a:rPr>
              <a:t>MEMORY FOOTPRINT</a:t>
            </a:r>
            <a:endParaRPr lang="en-US" sz="1200" dirty="0"/>
          </a:p>
        </p:txBody>
      </p:sp>
      <p:sp>
        <p:nvSpPr>
          <p:cNvPr id="3" name="Text 1"/>
          <p:cNvSpPr txBox="1"/>
          <p:nvPr/>
        </p:nvSpPr>
        <p:spPr>
          <a:xfrm>
            <a:off x="548640" y="713232"/>
            <a:ext cx="10515600" cy="73152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Two AI workloads fit with room to spare</a:t>
            </a:r>
            <a:endParaRPr lang="en-US" sz="3000" dirty="0"/>
          </a:p>
        </p:txBody>
      </p:sp>
      <p:sp>
        <p:nvSpPr>
          <p:cNvPr id="4" name="Text 2"/>
          <p:cNvSpPr txBox="1"/>
          <p:nvPr/>
        </p:nvSpPr>
        <p:spPr>
          <a:xfrm>
            <a:off x="548640" y="1600200"/>
            <a:ext cx="11064240" cy="822960"/>
          </a:xfrm>
          <a:prstGeom prst="rect">
            <a:avLst/>
          </a:prstGeom>
          <a:noFill/>
          <a:ln/>
        </p:spPr>
        <p:txBody>
          <a:bodyPr wrap="square" lIns="0" tIns="0" rIns="0" bIns="0" rtlCol="0" anchor="ctr"/>
          <a:lstStyle/>
          <a:p>
            <a:pPr indent="0" marL="0">
              <a:lnSpc>
                <a:spcPct val="130000"/>
              </a:lnSpc>
              <a:buNone/>
            </a:pPr>
            <a:r>
              <a:rPr lang="en-US" sz="1450" dirty="0">
                <a:solidFill>
                  <a:srgbClr val="475569"/>
                </a:solidFill>
                <a:latin typeface="Calibri" pitchFamily="34" charset="0"/>
                <a:ea typeface="Calibri" pitchFamily="34" charset="-122"/>
                <a:cs typeface="Calibri" pitchFamily="34" charset="-120"/>
              </a:rPr>
              <a:t>The story model's weights are read straight from flash, so the constrained on-chip SRAM stays free for the vision pipeline both models share.</a:t>
            </a:r>
            <a:endParaRPr lang="en-US" sz="1450" dirty="0"/>
          </a:p>
        </p:txBody>
      </p:sp>
      <p:sp>
        <p:nvSpPr>
          <p:cNvPr id="5" name="Shape 3"/>
          <p:cNvSpPr/>
          <p:nvPr/>
        </p:nvSpPr>
        <p:spPr>
          <a:xfrm>
            <a:off x="548640" y="2651760"/>
            <a:ext cx="3520440" cy="1737360"/>
          </a:xfrm>
          <a:prstGeom prst="roundRect">
            <a:avLst>
              <a:gd name="adj" fmla="val 5263"/>
            </a:avLst>
          </a:prstGeom>
          <a:solidFill>
            <a:srgbClr val="E0F2FE"/>
          </a:solidFill>
          <a:ln w="12700">
            <a:solidFill>
              <a:srgbClr val="BAE6FD"/>
            </a:solidFill>
            <a:prstDash val="solid"/>
          </a:ln>
        </p:spPr>
      </p:sp>
      <p:sp>
        <p:nvSpPr>
          <p:cNvPr id="6" name="Text 4"/>
          <p:cNvSpPr txBox="1"/>
          <p:nvPr/>
        </p:nvSpPr>
        <p:spPr>
          <a:xfrm>
            <a:off x="777240" y="2880360"/>
            <a:ext cx="3063240" cy="548640"/>
          </a:xfrm>
          <a:prstGeom prst="rect">
            <a:avLst/>
          </a:prstGeom>
          <a:noFill/>
          <a:ln/>
        </p:spPr>
        <p:txBody>
          <a:bodyPr wrap="square" lIns="0" tIns="0" rIns="0" bIns="0" rtlCol="0" anchor="ctr"/>
          <a:lstStyle/>
          <a:p>
            <a:pPr indent="0" marL="0">
              <a:buNone/>
            </a:pPr>
            <a:r>
              <a:rPr lang="en-US" sz="2600" b="1" dirty="0">
                <a:solidFill>
                  <a:srgbClr val="0369A1"/>
                </a:solidFill>
                <a:latin typeface="Calibri" pitchFamily="34" charset="0"/>
                <a:ea typeface="Calibri" pitchFamily="34" charset="-122"/>
                <a:cs typeface="Calibri" pitchFamily="34" charset="-120"/>
              </a:rPr>
              <a:t>17.1 MB</a:t>
            </a:r>
            <a:endParaRPr lang="en-US" sz="2600" dirty="0"/>
          </a:p>
        </p:txBody>
      </p:sp>
      <p:sp>
        <p:nvSpPr>
          <p:cNvPr id="7" name="Text 5"/>
          <p:cNvSpPr txBox="1"/>
          <p:nvPr/>
        </p:nvSpPr>
        <p:spPr>
          <a:xfrm>
            <a:off x="777240" y="3520440"/>
            <a:ext cx="3063240" cy="73152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story weights read straight from Octo-SPI flash, never copied to RAM</a:t>
            </a:r>
            <a:endParaRPr lang="en-US" sz="1150" dirty="0"/>
          </a:p>
        </p:txBody>
      </p:sp>
      <p:sp>
        <p:nvSpPr>
          <p:cNvPr id="8" name="Shape 6"/>
          <p:cNvSpPr/>
          <p:nvPr/>
        </p:nvSpPr>
        <p:spPr>
          <a:xfrm>
            <a:off x="4343400" y="2651760"/>
            <a:ext cx="3520440" cy="1737360"/>
          </a:xfrm>
          <a:prstGeom prst="roundRect">
            <a:avLst>
              <a:gd name="adj" fmla="val 5263"/>
            </a:avLst>
          </a:prstGeom>
          <a:solidFill>
            <a:srgbClr val="E0F2FE"/>
          </a:solidFill>
          <a:ln w="12700">
            <a:solidFill>
              <a:srgbClr val="BAE6FD"/>
            </a:solidFill>
            <a:prstDash val="solid"/>
          </a:ln>
        </p:spPr>
      </p:sp>
      <p:sp>
        <p:nvSpPr>
          <p:cNvPr id="9" name="Text 7"/>
          <p:cNvSpPr txBox="1"/>
          <p:nvPr/>
        </p:nvSpPr>
        <p:spPr>
          <a:xfrm>
            <a:off x="4572000" y="2880360"/>
            <a:ext cx="3063240" cy="548640"/>
          </a:xfrm>
          <a:prstGeom prst="rect">
            <a:avLst/>
          </a:prstGeom>
          <a:noFill/>
          <a:ln/>
        </p:spPr>
        <p:txBody>
          <a:bodyPr wrap="square" lIns="0" tIns="0" rIns="0" bIns="0" rtlCol="0" anchor="ctr"/>
          <a:lstStyle/>
          <a:p>
            <a:pPr indent="0" marL="0">
              <a:buNone/>
            </a:pPr>
            <a:r>
              <a:rPr lang="en-US" sz="2600" b="1" dirty="0">
                <a:solidFill>
                  <a:srgbClr val="0369A1"/>
                </a:solidFill>
                <a:latin typeface="Calibri" pitchFamily="34" charset="0"/>
                <a:ea typeface="Calibri" pitchFamily="34" charset="-122"/>
                <a:cs typeface="Calibri" pitchFamily="34" charset="-120"/>
              </a:rPr>
              <a:t>1.2 MB</a:t>
            </a:r>
            <a:endParaRPr lang="en-US" sz="2600" dirty="0"/>
          </a:p>
        </p:txBody>
      </p:sp>
      <p:sp>
        <p:nvSpPr>
          <p:cNvPr id="10" name="Text 8"/>
          <p:cNvSpPr txBox="1"/>
          <p:nvPr/>
        </p:nvSpPr>
        <p:spPr>
          <a:xfrm>
            <a:off x="4572000" y="3520440"/>
            <a:ext cx="3063240" cy="73152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on-chip SRAM used, of 1.9 MB fitted — shared by both NPU models</a:t>
            </a:r>
            <a:endParaRPr lang="en-US" sz="1150" dirty="0"/>
          </a:p>
        </p:txBody>
      </p:sp>
      <p:sp>
        <p:nvSpPr>
          <p:cNvPr id="11" name="Shape 9"/>
          <p:cNvSpPr/>
          <p:nvPr/>
        </p:nvSpPr>
        <p:spPr>
          <a:xfrm>
            <a:off x="8138160" y="2651760"/>
            <a:ext cx="3520440" cy="1737360"/>
          </a:xfrm>
          <a:prstGeom prst="roundRect">
            <a:avLst>
              <a:gd name="adj" fmla="val 5263"/>
            </a:avLst>
          </a:prstGeom>
          <a:solidFill>
            <a:srgbClr val="E0F2FE"/>
          </a:solidFill>
          <a:ln w="12700">
            <a:solidFill>
              <a:srgbClr val="BAE6FD"/>
            </a:solidFill>
            <a:prstDash val="solid"/>
          </a:ln>
        </p:spPr>
      </p:sp>
      <p:sp>
        <p:nvSpPr>
          <p:cNvPr id="12" name="Text 10"/>
          <p:cNvSpPr txBox="1"/>
          <p:nvPr/>
        </p:nvSpPr>
        <p:spPr>
          <a:xfrm>
            <a:off x="8366760" y="2880360"/>
            <a:ext cx="3063240" cy="548640"/>
          </a:xfrm>
          <a:prstGeom prst="rect">
            <a:avLst/>
          </a:prstGeom>
          <a:noFill/>
          <a:ln/>
        </p:spPr>
        <p:txBody>
          <a:bodyPr wrap="square" lIns="0" tIns="0" rIns="0" bIns="0" rtlCol="0" anchor="ctr"/>
          <a:lstStyle/>
          <a:p>
            <a:pPr indent="0" marL="0">
              <a:buNone/>
            </a:pPr>
            <a:r>
              <a:rPr lang="en-US" sz="2600" b="1" dirty="0">
                <a:solidFill>
                  <a:srgbClr val="0369A1"/>
                </a:solidFill>
                <a:latin typeface="Calibri" pitchFamily="34" charset="0"/>
                <a:ea typeface="Calibri" pitchFamily="34" charset="-122"/>
                <a:cs typeface="Calibri" pitchFamily="34" charset="-120"/>
              </a:rPr>
              <a:t>71%</a:t>
            </a:r>
            <a:endParaRPr lang="en-US" sz="2600" dirty="0"/>
          </a:p>
        </p:txBody>
      </p:sp>
      <p:sp>
        <p:nvSpPr>
          <p:cNvPr id="13" name="Text 11"/>
          <p:cNvSpPr txBox="1"/>
          <p:nvPr/>
        </p:nvSpPr>
        <p:spPr>
          <a:xfrm>
            <a:off x="8366760" y="3520440"/>
            <a:ext cx="3063240" cy="73152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of external SDRAM still free after both AI workloads are loaded</a:t>
            </a:r>
            <a:endParaRPr lang="en-US" sz="1150" dirty="0"/>
          </a:p>
        </p:txBody>
      </p:sp>
      <p:sp>
        <p:nvSpPr>
          <p:cNvPr id="14" name="Text 12"/>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 2026 Gnomons</a:t>
            </a:r>
            <a:endParaRPr lang="en-US" sz="900" dirty="0"/>
          </a:p>
        </p:txBody>
      </p:sp>
      <p:sp>
        <p:nvSpPr>
          <p:cNvPr id="15" name="Text 13"/>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150" kern="0" dirty="0">
                <a:solidFill>
                  <a:srgbClr val="16A34A"/>
                </a:solidFill>
                <a:latin typeface="Calibri" pitchFamily="34" charset="0"/>
                <a:ea typeface="Calibri" pitchFamily="34" charset="-122"/>
                <a:cs typeface="Calibri" pitchFamily="34" charset="-120"/>
              </a:rPr>
              <a:t>CLOSING THOUGHT</a:t>
            </a:r>
            <a:endParaRPr lang="en-US" sz="1200" dirty="0"/>
          </a:p>
        </p:txBody>
      </p:sp>
      <p:sp>
        <p:nvSpPr>
          <p:cNvPr id="3" name="Text 1"/>
          <p:cNvSpPr txBox="1"/>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 small proof of a larger idea</a:t>
            </a:r>
            <a:endParaRPr lang="en-US" sz="3200" dirty="0"/>
          </a:p>
        </p:txBody>
      </p:sp>
      <p:sp>
        <p:nvSpPr>
          <p:cNvPr id="4" name="Text 2"/>
          <p:cNvSpPr txBox="1"/>
          <p:nvPr/>
        </p:nvSpPr>
        <p:spPr>
          <a:xfrm>
            <a:off x="548640" y="1691640"/>
            <a:ext cx="5394960" cy="2743200"/>
          </a:xfrm>
          <a:prstGeom prst="rect">
            <a:avLst/>
          </a:prstGeom>
          <a:noFill/>
          <a:ln/>
        </p:spPr>
        <p:txBody>
          <a:bodyPr wrap="square" lIns="0" tIns="0" rIns="0" bIns="0" rtlCol="0" anchor="ctr"/>
          <a:lstStyle/>
          <a:p>
            <a:pPr indent="0" marL="0">
              <a:lnSpc>
                <a:spcPct val="135000"/>
              </a:lnSpc>
              <a:buNone/>
            </a:pPr>
            <a:r>
              <a:rPr lang="en-US" sz="1300" dirty="0">
                <a:solidFill>
                  <a:srgbClr val="CBD5E1"/>
                </a:solidFill>
                <a:latin typeface="Calibri" pitchFamily="34" charset="0"/>
                <a:ea typeface="Calibri" pitchFamily="34" charset="-122"/>
                <a:cs typeface="Calibri" pitchFamily="34" charset="-120"/>
              </a:rPr>
              <a:t>This demo is deliberately small — one board, one camera, one child-sized conversation. But the same properties that make it work reach well beyond this one demo. A gesture-only interface reaches people voice and touch assistants don't: non-verbal children, hospital patients, anyone across a language barrier — the back-and-forth reciprocity here is what makes an interface feel like it's listening, which matters most for the users existing assistants serve worst.</a:t>
            </a:r>
            <a:endParaRPr lang="en-US" sz="1300" dirty="0"/>
          </a:p>
        </p:txBody>
      </p:sp>
      <p:sp>
        <p:nvSpPr>
          <p:cNvPr id="5" name="Text 3"/>
          <p:cNvSpPr txBox="1"/>
          <p:nvPr/>
        </p:nvSpPr>
        <p:spPr>
          <a:xfrm>
            <a:off x="6263640" y="1691640"/>
            <a:ext cx="5394960" cy="1463040"/>
          </a:xfrm>
          <a:prstGeom prst="rect">
            <a:avLst/>
          </a:prstGeom>
          <a:noFill/>
          <a:ln/>
        </p:spPr>
        <p:txBody>
          <a:bodyPr wrap="square" lIns="0" tIns="0" rIns="0" bIns="0" rtlCol="0" anchor="ctr"/>
          <a:lstStyle/>
          <a:p>
            <a:pPr indent="0" marL="0">
              <a:lnSpc>
                <a:spcPct val="135000"/>
              </a:lnSpc>
              <a:buNone/>
            </a:pPr>
            <a:r>
              <a:rPr lang="en-US" sz="1300" dirty="0">
                <a:solidFill>
                  <a:srgbClr val="CBD5E1"/>
                </a:solidFill>
                <a:latin typeface="Calibri" pitchFamily="34" charset="0"/>
                <a:ea typeface="Calibri" pitchFamily="34" charset="-122"/>
                <a:cs typeface="Calibri" pitchFamily="34" charset="-120"/>
              </a:rPr>
              <a:t>Keeping every byte on-device means that reach doesn't cost privacy: nothing about a child's face or voice has anywhere to leak, by construction, not by policy.</a:t>
            </a:r>
            <a:endParaRPr lang="en-US" sz="1300" dirty="0"/>
          </a:p>
        </p:txBody>
      </p:sp>
      <p:sp>
        <p:nvSpPr>
          <p:cNvPr id="6" name="Text 4"/>
          <p:cNvSpPr txBox="1"/>
          <p:nvPr/>
        </p:nvSpPr>
        <p:spPr>
          <a:xfrm>
            <a:off x="6263640" y="3246120"/>
            <a:ext cx="5394960" cy="1920240"/>
          </a:xfrm>
          <a:prstGeom prst="rect">
            <a:avLst/>
          </a:prstGeom>
          <a:noFill/>
          <a:ln/>
        </p:spPr>
        <p:txBody>
          <a:bodyPr wrap="square" lIns="0" tIns="0" rIns="0" bIns="0" rtlCol="0" anchor="ctr"/>
          <a:lstStyle/>
          <a:p>
            <a:pPr indent="0" marL="0">
              <a:lnSpc>
                <a:spcPct val="135000"/>
              </a:lnSpc>
              <a:buNone/>
            </a:pPr>
            <a:r>
              <a:rPr lang="en-US" sz="1300" dirty="0">
                <a:solidFill>
                  <a:srgbClr val="CBD5E1"/>
                </a:solidFill>
                <a:latin typeface="Calibri" pitchFamily="34" charset="0"/>
                <a:ea typeface="Calibri" pitchFamily="34" charset="-122"/>
                <a:cs typeface="Calibri" pitchFamily="34" charset="-120"/>
              </a:rPr>
              <a:t>And underneath both is the same discipline TRON was built on since 1984: computers embedded everywhere, working reliably, disappearing into their environment. This demo puts that discipline under a new kind of pressure, without giving it up — two AI workloads sharing one RA8P1 chip, under µT-Kernel's fixed priorities, without ever missing a frame.</a:t>
            </a:r>
            <a:endParaRPr lang="en-US" sz="1300" dirty="0"/>
          </a:p>
        </p:txBody>
      </p:sp>
      <p:sp>
        <p:nvSpPr>
          <p:cNvPr id="7" name="Text 5"/>
          <p:cNvSpPr txBox="1"/>
          <p:nvPr/>
        </p:nvSpPr>
        <p:spPr>
          <a:xfrm>
            <a:off x="548640" y="5349240"/>
            <a:ext cx="11064240" cy="822960"/>
          </a:xfrm>
          <a:prstGeom prst="rect">
            <a:avLst/>
          </a:prstGeom>
          <a:noFill/>
          <a:ln/>
        </p:spPr>
        <p:txBody>
          <a:bodyPr wrap="square" lIns="0" tIns="0" rIns="0" bIns="0" rtlCol="0" anchor="ctr"/>
          <a:lstStyle/>
          <a:p>
            <a:pPr indent="0" marL="0">
              <a:lnSpc>
                <a:spcPct val="130000"/>
              </a:lnSpc>
              <a:buNone/>
            </a:pPr>
            <a:r>
              <a:rPr lang="en-US" sz="1600" b="1" i="1" dirty="0">
                <a:solidFill>
                  <a:srgbClr val="16A34A"/>
                </a:solidFill>
                <a:latin typeface="Calibri" pitchFamily="34" charset="0"/>
                <a:ea typeface="Calibri" pitchFamily="34" charset="-122"/>
                <a:cs typeface="Calibri" pitchFamily="34" charset="-120"/>
              </a:rPr>
              <a:t>AI doesn't have to mean flaky, cloud-dependent, unpredictable. Not when it inherits an RTOS's decades of determinism, instead of replacing it.</a:t>
            </a:r>
            <a:endParaRPr lang="en-US" sz="1600" dirty="0"/>
          </a:p>
        </p:txBody>
      </p:sp>
      <p:sp>
        <p:nvSpPr>
          <p:cNvPr id="8" name="Text 6"/>
          <p:cNvSpPr txBox="1"/>
          <p:nvPr/>
        </p:nvSpPr>
        <p:spPr>
          <a:xfrm>
            <a:off x="8988552"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 2026 Gnomons</a:t>
            </a:r>
            <a:endParaRPr lang="en-US" sz="900" dirty="0"/>
          </a:p>
        </p:txBody>
      </p:sp>
      <p:sp>
        <p:nvSpPr>
          <p:cNvPr id="9" name="Text 7"/>
          <p:cNvSpPr txBox="1"/>
          <p:nvPr/>
        </p:nvSpPr>
        <p:spPr>
          <a:xfrm>
            <a:off x="5637276" y="6473952"/>
            <a:ext cx="914400" cy="27432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Gnomons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Conversational Hand Gestures — Introduction</dc:title>
  <dc:subject>PptxGenJS Presentation</dc:subject>
  <dc:creator>Tu Thai, Duy Phan, Khoa Do</dc:creator>
  <cp:lastModifiedBy>Tu Thai, Duy Phan, Khoa Do</cp:lastModifiedBy>
  <cp:revision>1</cp:revision>
  <dcterms:created xsi:type="dcterms:W3CDTF">2026-09-22T08:03:45Z</dcterms:created>
  <dcterms:modified xsi:type="dcterms:W3CDTF">2026-09-22T08:03:45Z</dcterms:modified>
</cp:coreProperties>
</file>